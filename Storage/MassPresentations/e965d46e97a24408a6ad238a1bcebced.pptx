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9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41" r:id="rId14"/>
    <p:sldId id="342" r:id="rId15"/>
    <p:sldId id="343" r:id="rId16"/>
    <p:sldId id="340"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345" r:id="rId43"/>
    <p:sldId id="346" r:id="rId44"/>
    <p:sldId id="347" r:id="rId45"/>
    <p:sldId id="348" r:id="rId46"/>
    <p:sldId id="349" r:id="rId47"/>
    <p:sldId id="293" r:id="rId48"/>
    <p:sldId id="344"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 id="339" r:id="rId95"/>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00"/>
    <p:restoredTop sz="94933"/>
  </p:normalViewPr>
  <p:slideViewPr>
    <p:cSldViewPr snapToGrid="0">
      <p:cViewPr varScale="1">
        <p:scale>
          <a:sx n="87" d="100"/>
          <a:sy n="87" d="100"/>
        </p:scale>
        <p:origin x="200" y="1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44C2B-389E-664A-A050-6032A2525C12}" type="datetimeFigureOut">
              <a:rPr lang="en-AE" smtClean="0"/>
              <a:t>03/09/2026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3EA6A-C5A1-2D47-86CB-BB855C3A873A}" type="slidenum">
              <a:rPr lang="en-AE" smtClean="0"/>
              <a:t>‹#›</a:t>
            </a:fld>
            <a:endParaRPr lang="en-AE"/>
          </a:p>
        </p:txBody>
      </p:sp>
    </p:spTree>
    <p:extLst>
      <p:ext uri="{BB962C8B-B14F-4D97-AF65-F5344CB8AC3E}">
        <p14:creationId xmlns:p14="http://schemas.microsoft.com/office/powerpoint/2010/main" val="3980682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F373EA6A-C5A1-2D47-86CB-BB855C3A873A}" type="slidenum">
              <a:rPr lang="en-AE" smtClean="0"/>
              <a:t>46</a:t>
            </a:fld>
            <a:endParaRPr lang="en-AE"/>
          </a:p>
        </p:txBody>
      </p:sp>
    </p:spTree>
    <p:extLst>
      <p:ext uri="{BB962C8B-B14F-4D97-AF65-F5344CB8AC3E}">
        <p14:creationId xmlns:p14="http://schemas.microsoft.com/office/powerpoint/2010/main" val="1409393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blip>
          <a:stretch>
            <a:fill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3AED3460-1975-85E3-3AA8-257FE09416BE}"/>
              </a:ext>
            </a:extLst>
          </p:cNvPr>
          <p:cNvSpPr>
            <a:spLocks noGrp="1"/>
          </p:cNvSpPr>
          <p:nvPr>
            <p:ph type="subTitle" idx="1"/>
          </p:nvPr>
        </p:nvSpPr>
        <p:spPr>
          <a:xfrm>
            <a:off x="1" y="4011683"/>
            <a:ext cx="12191999" cy="1655762"/>
          </a:xfrm>
          <a:prstGeom prst="rect">
            <a:avLst/>
          </a:prstGeom>
          <a:solidFill>
            <a:schemeClr val="bg1">
              <a:alpha val="84857"/>
            </a:schemeClr>
          </a:solidFill>
        </p:spPr>
        <p:txBody>
          <a:bodyPr anchor="ctr"/>
          <a:lstStyle>
            <a:lvl1pPr marL="0" indent="0" algn="ctr">
              <a:buNone/>
              <a:defRPr sz="1800" b="0" i="1">
                <a:solidFill>
                  <a:schemeClr val="accent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AE" dirty="0"/>
          </a:p>
        </p:txBody>
      </p:sp>
      <p:sp>
        <p:nvSpPr>
          <p:cNvPr id="2" name="Title">
            <a:extLst>
              <a:ext uri="{FF2B5EF4-FFF2-40B4-BE49-F238E27FC236}">
                <a16:creationId xmlns:a16="http://schemas.microsoft.com/office/drawing/2014/main" id="{DC4AD2FC-DFED-DCC9-CC6E-4817887135A2}"/>
              </a:ext>
            </a:extLst>
          </p:cNvPr>
          <p:cNvSpPr>
            <a:spLocks noGrp="1"/>
          </p:cNvSpPr>
          <p:nvPr>
            <p:ph type="ctrTitle"/>
          </p:nvPr>
        </p:nvSpPr>
        <p:spPr>
          <a:xfrm>
            <a:off x="0" y="1528549"/>
            <a:ext cx="12192000" cy="2387600"/>
          </a:xfrm>
          <a:prstGeom prst="rect">
            <a:avLst/>
          </a:prstGeom>
          <a:solidFill>
            <a:schemeClr val="bg1">
              <a:alpha val="85000"/>
            </a:schemeClr>
          </a:solidFill>
        </p:spPr>
        <p:txBody>
          <a:bodyPr anchor="ctr"/>
          <a:lstStyle>
            <a:lvl1pPr algn="ctr">
              <a:defRPr sz="5400" b="1">
                <a:solidFill>
                  <a:schemeClr val="accent1"/>
                </a:solidFill>
                <a:latin typeface="Times New Roman" panose="02020603050405020304" pitchFamily="18" charset="0"/>
                <a:cs typeface="Times New Roman" panose="02020603050405020304" pitchFamily="18" charset="0"/>
              </a:defRPr>
            </a:lvl1pPr>
          </a:lstStyle>
          <a:p>
            <a:r>
              <a:rPr lang="en-US" dirty="0"/>
              <a:t>Click to edit Master title style</a:t>
            </a:r>
            <a:endParaRPr lang="en-AE" dirty="0"/>
          </a:p>
        </p:txBody>
      </p:sp>
      <p:sp>
        <p:nvSpPr>
          <p:cNvPr id="6" name="Date">
            <a:extLst>
              <a:ext uri="{FF2B5EF4-FFF2-40B4-BE49-F238E27FC236}">
                <a16:creationId xmlns:a16="http://schemas.microsoft.com/office/drawing/2014/main" id="{1834E721-FFC6-71BA-0416-FB18DF078827}"/>
              </a:ext>
            </a:extLst>
          </p:cNvPr>
          <p:cNvSpPr>
            <a:spLocks noGrp="1"/>
          </p:cNvSpPr>
          <p:nvPr>
            <p:ph type="body" sz="quarter" idx="10"/>
          </p:nvPr>
        </p:nvSpPr>
        <p:spPr>
          <a:xfrm>
            <a:off x="0" y="3219450"/>
            <a:ext cx="12192000" cy="419100"/>
          </a:xfrm>
          <a:prstGeom prst="rect">
            <a:avLst/>
          </a:prstGeom>
        </p:spPr>
        <p:txBody>
          <a:bodyPr anchor="ctr"/>
          <a:lstStyle>
            <a:lvl1pPr algn="ctr">
              <a:buNone/>
              <a:defRPr sz="1600">
                <a:solidFill>
                  <a:schemeClr val="accent1"/>
                </a:solidFill>
                <a:latin typeface="Times New Roman" panose="02020603050405020304" pitchFamily="18" charset="0"/>
                <a:cs typeface="Times New Roman" panose="02020603050405020304" pitchFamily="18" charset="0"/>
              </a:defRPr>
            </a:lvl1pPr>
          </a:lstStyle>
          <a:p>
            <a:pPr lvl="0"/>
            <a:endParaRPr lang="en-AE" dirty="0"/>
          </a:p>
        </p:txBody>
      </p:sp>
    </p:spTree>
    <p:extLst>
      <p:ext uri="{BB962C8B-B14F-4D97-AF65-F5344CB8AC3E}">
        <p14:creationId xmlns:p14="http://schemas.microsoft.com/office/powerpoint/2010/main" val="275297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ong - Title + Lyrics">
    <p:bg>
      <p:bgPr>
        <a:solidFill>
          <a:schemeClr val="bg1"/>
        </a:solidFill>
        <a:effectLst/>
      </p:bgPr>
    </p:bg>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pPr lvl="0"/>
            <a:r>
              <a:rPr lang="en-US" dirty="0"/>
              <a:t>Click to edit Master text styles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rPr lang="en-US" dirty="0"/>
              <a:t>Click to edit Master title style</a:t>
            </a:r>
            <a:endParaRPr lang="en-AE" dirty="0"/>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pPr lvl="0"/>
            <a:endParaRPr lang="en-AE" dirty="0"/>
          </a:p>
        </p:txBody>
      </p:sp>
    </p:spTree>
    <p:extLst>
      <p:ext uri="{BB962C8B-B14F-4D97-AF65-F5344CB8AC3E}">
        <p14:creationId xmlns:p14="http://schemas.microsoft.com/office/powerpoint/2010/main" val="263848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ng - Lyrics">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892357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 Title + Text">
    <p:bg>
      <p:bgPr>
        <a:solidFill>
          <a:schemeClr val="bg1"/>
        </a:solidFill>
        <a:effectLst/>
      </p:bgPr>
    </p:bg>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pPr lvl="0"/>
            <a:r>
              <a:rPr lang="en-US" dirty="0"/>
              <a:t>Click to edit Master text styles</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rPr lang="en-US" dirty="0"/>
              <a:t>Click to edit Master title style</a:t>
            </a:r>
            <a:endParaRPr lang="en-AE" dirty="0"/>
          </a:p>
        </p:txBody>
      </p:sp>
    </p:spTree>
    <p:extLst>
      <p:ext uri="{BB962C8B-B14F-4D97-AF65-F5344CB8AC3E}">
        <p14:creationId xmlns:p14="http://schemas.microsoft.com/office/powerpoint/2010/main" val="353172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resentation - Text">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18597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blip>
          <a:stretch>
            <a:fillRect/>
          </a:stretch>
        </p:blipFill>
        <p:spPr>
          <a:xfrm>
            <a:off x="0" y="0"/>
            <a:ext cx="12192000" cy="6858000"/>
          </a:xfrm>
          <a:prstGeom prst="rect">
            <a:avLst/>
          </a:prstGeom>
        </p:spPr>
      </p:pic>
    </p:spTree>
    <p:extLst>
      <p:ext uri="{BB962C8B-B14F-4D97-AF65-F5344CB8AC3E}">
        <p14:creationId xmlns:p14="http://schemas.microsoft.com/office/powerpoint/2010/main" val="132547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C Safety">
    <p:spTree>
      <p:nvGrpSpPr>
        <p:cNvPr id="1" name=""/>
        <p:cNvGrpSpPr/>
        <p:nvPr/>
      </p:nvGrpSpPr>
      <p:grpSpPr>
        <a:xfrm>
          <a:off x="0" y="0"/>
          <a:ext cx="0" cy="0"/>
          <a:chOff x="0" y="0"/>
          <a:chExt cx="0" cy="0"/>
        </a:xfrm>
      </p:grpSpPr>
      <p:pic>
        <p:nvPicPr>
          <p:cNvPr id="5000" name="Presentation Background"/>
          <p:cNvPicPr>
            <a:picLocks noChangeAspect="1"/>
          </p:cNvPicPr>
          <p:nvPr/>
        </p:nvPicPr>
        <p:blipFill>
          <a:blip r:embed="rId2">
            <a:alphaModFix amt="15000"/>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B1C7C45-6B92-2F0D-8CF1-7ED2C20F3D53}"/>
              </a:ext>
            </a:extLst>
          </p:cNvPr>
          <p:cNvSpPr txBox="1"/>
          <p:nvPr userDrawn="1"/>
        </p:nvSpPr>
        <p:spPr>
          <a:xfrm>
            <a:off x="96751" y="317667"/>
            <a:ext cx="11809312" cy="6222666"/>
          </a:xfrm>
          <a:prstGeom prst="rect">
            <a:avLst/>
          </a:prstGeom>
          <a:noFill/>
        </p:spPr>
        <p:txBody>
          <a:bodyPr wrap="square">
            <a:spAutoFit/>
          </a:bodyPr>
          <a:lstStyle/>
          <a:p>
            <a:pPr>
              <a:defRPr/>
            </a:pPr>
            <a:r>
              <a:rPr lang="en-US" sz="2400" b="1" u="sng" dirty="0">
                <a:latin typeface="Arial" panose="020B0604020202020204" pitchFamily="34" charset="0"/>
                <a:cs typeface="Arial" panose="020B0604020202020204" pitchFamily="34" charset="0"/>
              </a:rPr>
              <a:t>Important health and safety notices:</a:t>
            </a:r>
          </a:p>
          <a:p>
            <a:pPr>
              <a:defRPr/>
            </a:pPr>
            <a:endParaRPr lang="en-US" sz="1100" dirty="0">
              <a:solidFill>
                <a:schemeClr val="bg1"/>
              </a:solidFill>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Fire exit:</a:t>
            </a:r>
            <a:r>
              <a:rPr lang="en-US" sz="1500" b="1" i="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Through the foyer and on either side of the main body of </a:t>
            </a:r>
          </a:p>
          <a:p>
            <a:pPr>
              <a:defRPr/>
            </a:pPr>
            <a:r>
              <a:rPr lang="en-US" sz="2000" b="1" dirty="0">
                <a:latin typeface="Arial" panose="020B0604020202020204" pitchFamily="34" charset="0"/>
                <a:cs typeface="Arial" panose="020B0604020202020204" pitchFamily="34" charset="0"/>
              </a:rPr>
              <a:t>	  the church</a:t>
            </a:r>
            <a:endParaRPr lang="en-US" b="1" dirty="0">
              <a:latin typeface="Arial" panose="020B0604020202020204" pitchFamily="34" charset="0"/>
              <a:cs typeface="Arial" panose="020B0604020202020204" pitchFamily="34" charset="0"/>
            </a:endParaRPr>
          </a:p>
          <a:p>
            <a:pPr>
              <a:defRPr/>
            </a:pPr>
            <a:endParaRPr lang="en-US" sz="1400" b="1" dirty="0">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Toilets:</a:t>
            </a:r>
            <a:r>
              <a:rPr lang="en-US" sz="1500" b="1" i="1" dirty="0">
                <a:latin typeface="Arial" panose="020B0604020202020204" pitchFamily="34" charset="0"/>
                <a:cs typeface="Arial" panose="020B0604020202020204" pitchFamily="34" charset="0"/>
              </a:rPr>
              <a:t>   </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For public on the right in the foyer.</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Small children must be accompanied by an adult.</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Sacristy toilet is for Clergy only.</a:t>
            </a:r>
          </a:p>
          <a:p>
            <a:pPr>
              <a:defRPr/>
            </a:pPr>
            <a:endParaRPr lang="en-US" sz="1100" dirty="0">
              <a:latin typeface="Arial" panose="020B0604020202020204" pitchFamily="34" charset="0"/>
              <a:cs typeface="Arial" panose="020B0604020202020204" pitchFamily="34" charset="0"/>
            </a:endParaRPr>
          </a:p>
          <a:p>
            <a:pPr>
              <a:defRPr/>
            </a:pPr>
            <a:endParaRPr lang="en-US" sz="2400" dirty="0">
              <a:latin typeface="Arial" panose="020B0604020202020204" pitchFamily="34" charset="0"/>
              <a:cs typeface="Arial" panose="020B0604020202020204" pitchFamily="34" charset="0"/>
            </a:endParaRPr>
          </a:p>
          <a:p>
            <a:pPr>
              <a:defRPr/>
            </a:pPr>
            <a:endParaRPr lang="en-US" sz="1600" dirty="0">
              <a:latin typeface="Arial" panose="020B0604020202020204" pitchFamily="34" charset="0"/>
              <a:cs typeface="Arial" panose="020B0604020202020204" pitchFamily="34" charset="0"/>
            </a:endParaRPr>
          </a:p>
          <a:p>
            <a:pPr>
              <a:defRPr/>
            </a:pPr>
            <a:endParaRPr lang="en-US" sz="1600" dirty="0">
              <a:solidFill>
                <a:schemeClr val="bg1"/>
              </a:solidFill>
              <a:latin typeface="Arial" panose="020B0604020202020204" pitchFamily="34" charset="0"/>
              <a:cs typeface="Arial" panose="020B0604020202020204" pitchFamily="34" charset="0"/>
            </a:endParaRPr>
          </a:p>
          <a:p>
            <a:pPr>
              <a:lnSpc>
                <a:spcPct val="107000"/>
              </a:lnSpc>
              <a:spcAft>
                <a:spcPts val="800"/>
              </a:spcAft>
              <a:defRPr/>
            </a:pPr>
            <a:r>
              <a:rPr lang="en-NZ" sz="1600" kern="100" dirty="0">
                <a:latin typeface="Arial" panose="020B0604020202020204" pitchFamily="34" charset="0"/>
                <a:ea typeface="Aptos" panose="020B0004020202020204" pitchFamily="34" charset="0"/>
                <a:cs typeface="Arial" panose="020B0604020202020204" pitchFamily="34" charset="0"/>
              </a:rPr>
              <a:t> </a:t>
            </a: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lvl="1">
              <a:defRPr/>
            </a:pPr>
            <a:endParaRPr lang="en-NZ" sz="2400" b="1" i="1" kern="100" dirty="0">
              <a:latin typeface="Arial" panose="020B0604020202020204" pitchFamily="34" charset="0"/>
              <a:ea typeface="Aptos" panose="020B00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Please </a:t>
            </a:r>
            <a:r>
              <a:rPr lang="en-NZ" sz="2400" b="1" i="1" kern="100" dirty="0">
                <a:solidFill>
                  <a:srgbClr val="FF0000"/>
                </a:solidFill>
                <a:latin typeface="Arial" panose="020B0604020202020204" pitchFamily="34" charset="0"/>
                <a:ea typeface="Aptos" panose="020B0004020202020204" pitchFamily="34" charset="0"/>
                <a:cs typeface="Arial" panose="020B0604020202020204" pitchFamily="34" charset="0"/>
              </a:rPr>
              <a:t>DO NOT </a:t>
            </a:r>
            <a:r>
              <a:rPr lang="en-NZ" sz="2400" b="1" i="1" kern="100" dirty="0">
                <a:latin typeface="Arial" panose="020B0604020202020204" pitchFamily="34" charset="0"/>
                <a:ea typeface="Aptos" panose="020B0004020202020204" pitchFamily="34" charset="0"/>
                <a:cs typeface="Arial" panose="020B0604020202020204" pitchFamily="34" charset="0"/>
              </a:rPr>
              <a:t>let your child /ren play on the stairs.</a:t>
            </a:r>
          </a:p>
          <a:p>
            <a:pPr lvl="1">
              <a:defRPr/>
            </a:pPr>
            <a:r>
              <a:rPr lang="en-US" altLang="en-US" sz="2400" b="1" i="1" kern="100" dirty="0">
                <a:latin typeface="Arial" panose="020B0604020202020204" pitchFamily="34" charset="0"/>
                <a:cs typeface="Arial" panose="020B0604020202020204" pitchFamily="34" charset="0"/>
              </a:rPr>
              <a:t>Please </a:t>
            </a:r>
            <a:r>
              <a:rPr lang="en-US" altLang="en-US" sz="2400" b="1" i="1" kern="100" dirty="0">
                <a:solidFill>
                  <a:srgbClr val="FF0000"/>
                </a:solidFill>
                <a:latin typeface="Arial" panose="020B0604020202020204" pitchFamily="34" charset="0"/>
                <a:cs typeface="Arial" panose="020B0604020202020204" pitchFamily="34" charset="0"/>
              </a:rPr>
              <a:t>TURN OFF  </a:t>
            </a:r>
            <a:r>
              <a:rPr lang="en-US" altLang="en-US" sz="2400" b="1" i="1" kern="100" dirty="0">
                <a:latin typeface="Arial" panose="020B0604020202020204" pitchFamily="34" charset="0"/>
                <a:cs typeface="Arial" panose="020B0604020202020204" pitchFamily="34" charset="0"/>
              </a:rPr>
              <a:t>your cellphone.</a:t>
            </a:r>
            <a:endParaRPr lang="en-NZ" sz="2400" b="1" i="1" kern="100" dirty="0">
              <a:latin typeface="Arial" panose="020B06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Thank you. God bless.</a:t>
            </a:r>
          </a:p>
        </p:txBody>
      </p:sp>
      <p:graphicFrame>
        <p:nvGraphicFramePr>
          <p:cNvPr id="5" name="Table 4">
            <a:extLst>
              <a:ext uri="{FF2B5EF4-FFF2-40B4-BE49-F238E27FC236}">
                <a16:creationId xmlns:a16="http://schemas.microsoft.com/office/drawing/2014/main" id="{4F911929-7C41-FF0C-F561-9D2231F0AECB}"/>
              </a:ext>
            </a:extLst>
          </p:cNvPr>
          <p:cNvGraphicFramePr>
            <a:graphicFrameLocks noGrp="1"/>
          </p:cNvGraphicFramePr>
          <p:nvPr userDrawn="1"/>
        </p:nvGraphicFramePr>
        <p:xfrm>
          <a:off x="191344" y="3148642"/>
          <a:ext cx="11809312" cy="1785668"/>
        </p:xfrm>
        <a:graphic>
          <a:graphicData uri="http://schemas.openxmlformats.org/drawingml/2006/table">
            <a:tbl>
              <a:tblPr firstRow="1" bandRow="1">
                <a:tableStyleId>{5C22544A-7EE6-4342-B048-85BDC9FD1C3A}</a:tableStyleId>
              </a:tblPr>
              <a:tblGrid>
                <a:gridCol w="7093001">
                  <a:extLst>
                    <a:ext uri="{9D8B030D-6E8A-4147-A177-3AD203B41FA5}">
                      <a16:colId xmlns:a16="http://schemas.microsoft.com/office/drawing/2014/main" val="1042179603"/>
                    </a:ext>
                  </a:extLst>
                </a:gridCol>
                <a:gridCol w="4716311">
                  <a:extLst>
                    <a:ext uri="{9D8B030D-6E8A-4147-A177-3AD203B41FA5}">
                      <a16:colId xmlns:a16="http://schemas.microsoft.com/office/drawing/2014/main" val="472394721"/>
                    </a:ext>
                  </a:extLst>
                </a:gridCol>
              </a:tblGrid>
              <a:tr h="1785668">
                <a:tc>
                  <a:txBody>
                    <a:bodyPr/>
                    <a:lstStyle/>
                    <a:p>
                      <a:pPr marL="216000" indent="-241200">
                        <a:defRPr/>
                      </a:pPr>
                      <a:r>
                        <a:rPr lang="en-US" sz="1500" b="1" i="1" u="sng" dirty="0">
                          <a:solidFill>
                            <a:sysClr val="windowText" lastClr="000000"/>
                          </a:solidFill>
                          <a:effectLst/>
                          <a:latin typeface="Arial" panose="020B0604020202020204" pitchFamily="34" charset="0"/>
                          <a:cs typeface="Arial" panose="020B0604020202020204" pitchFamily="34" charset="0"/>
                        </a:rPr>
                        <a:t>Access to areas:</a:t>
                      </a:r>
                    </a:p>
                    <a:p>
                      <a:pPr marL="216000" indent="-241200">
                        <a:lnSpc>
                          <a:spcPct val="150000"/>
                        </a:lnSpc>
                        <a:buFont typeface="+mj-lt"/>
                        <a:buAutoNum type="arabicPeriod"/>
                        <a:defRPr/>
                      </a:pPr>
                      <a:r>
                        <a:rPr lang="en-US" sz="1600" b="1" dirty="0">
                          <a:solidFill>
                            <a:sysClr val="windowText" lastClr="000000"/>
                          </a:solidFill>
                          <a:effectLst/>
                          <a:latin typeface="Arial" panose="020B0604020202020204" pitchFamily="34" charset="0"/>
                          <a:cs typeface="Arial" panose="020B0604020202020204" pitchFamily="34" charset="0"/>
                        </a:rPr>
                        <a:t>First door to the sacristy is for Priests and Sacristans only</a:t>
                      </a:r>
                    </a:p>
                    <a:p>
                      <a:pPr marL="216000" indent="-241200">
                        <a:lnSpc>
                          <a:spcPct val="150000"/>
                        </a:lnSpc>
                        <a:buFont typeface="+mj-lt"/>
                        <a:buAutoNum type="arabicPeriod"/>
                        <a:defRPr/>
                      </a:pPr>
                      <a:r>
                        <a:rPr lang="en-US" sz="1600" b="1" dirty="0">
                          <a:solidFill>
                            <a:sysClr val="windowText" lastClr="000000"/>
                          </a:solidFill>
                          <a:effectLst/>
                          <a:latin typeface="Arial" panose="020B0604020202020204" pitchFamily="34" charset="0"/>
                          <a:cs typeface="Arial" panose="020B0604020202020204" pitchFamily="34" charset="0"/>
                        </a:rPr>
                        <a:t>Back door to the sacristy is for Altar Servers and Music groups.</a:t>
                      </a:r>
                    </a:p>
                    <a:p>
                      <a:pPr marL="216000" indent="-241200">
                        <a:lnSpc>
                          <a:spcPct val="150000"/>
                        </a:lnSpc>
                        <a:buFont typeface="+mj-lt"/>
                        <a:buAutoNum type="arabicPeriod"/>
                        <a:defRPr/>
                      </a:pPr>
                      <a:r>
                        <a:rPr lang="en-NZ" sz="1600" b="1" kern="100" dirty="0">
                          <a:solidFill>
                            <a:sysClr val="windowText" lastClr="000000"/>
                          </a:solidFill>
                          <a:effectLst/>
                          <a:latin typeface="Arial" panose="020B0604020202020204" pitchFamily="34" charset="0"/>
                          <a:ea typeface="Aptos" panose="020B0004020202020204" pitchFamily="34" charset="0"/>
                          <a:cs typeface="Arial" panose="020B0604020202020204" pitchFamily="34" charset="0"/>
                        </a:rPr>
                        <a:t>Back room in the sacristy for flower arranging.</a:t>
                      </a:r>
                    </a:p>
                    <a:p>
                      <a:pPr marL="216000" indent="-241200">
                        <a:lnSpc>
                          <a:spcPct val="150000"/>
                        </a:lnSpc>
                        <a:buFont typeface="+mj-lt"/>
                        <a:buAutoNum type="arabicPeriod"/>
                        <a:defRPr/>
                      </a:pPr>
                      <a:r>
                        <a:rPr lang="en-NZ" sz="1600" b="1" kern="100" dirty="0">
                          <a:solidFill>
                            <a:sysClr val="windowText" lastClr="000000"/>
                          </a:solidFill>
                          <a:effectLst/>
                          <a:latin typeface="Arial" panose="020B0604020202020204" pitchFamily="34" charset="0"/>
                          <a:ea typeface="Aptos" panose="020B0004020202020204" pitchFamily="34" charset="0"/>
                          <a:cs typeface="Arial" panose="020B0604020202020204" pitchFamily="34" charset="0"/>
                        </a:rPr>
                        <a:t>The Vestry is reserved for the Priests to robe for Mass</a:t>
                      </a:r>
                      <a:endParaRPr lang="en-NZ" sz="1500" b="1" kern="100" dirty="0">
                        <a:solidFill>
                          <a:sysClr val="windowText" lastClr="000000"/>
                        </a:solidFill>
                        <a:effectLst/>
                        <a:latin typeface="Arial" panose="020B0604020202020204" pitchFamily="34" charset="0"/>
                        <a:ea typeface="Aptos" panose="020B0004020202020204" pitchFamily="34" charset="0"/>
                        <a:cs typeface="Arial" panose="020B0604020202020204" pitchFamily="34" charset="0"/>
                      </a:endParaRPr>
                    </a:p>
                  </a:txBody>
                  <a:tcPr marL="121920" marR="121920" marT="60960" marB="60960">
                    <a:solidFill>
                      <a:schemeClr val="bg1">
                        <a:lumMod val="85000"/>
                      </a:schemeClr>
                    </a:solidFill>
                  </a:tcPr>
                </a:tc>
                <a:tc>
                  <a:txBody>
                    <a:bodyPr/>
                    <a:lstStyle/>
                    <a:p>
                      <a:pPr>
                        <a:lnSpc>
                          <a:spcPct val="107000"/>
                        </a:lnSpc>
                        <a:spcAft>
                          <a:spcPts val="600"/>
                        </a:spcAft>
                        <a:defRPr/>
                      </a:pPr>
                      <a:r>
                        <a:rPr lang="en-NZ" sz="1500" b="1" i="1" u="sng" kern="1200" dirty="0">
                          <a:solidFill>
                            <a:sysClr val="windowText" lastClr="000000"/>
                          </a:solidFill>
                          <a:effectLst/>
                          <a:latin typeface="Arial" panose="020B0604020202020204" pitchFamily="34" charset="0"/>
                          <a:ea typeface="+mn-ea"/>
                          <a:cs typeface="Arial" panose="020B0604020202020204" pitchFamily="34" charset="0"/>
                        </a:rPr>
                        <a:t>Health and Wellness:</a:t>
                      </a:r>
                    </a:p>
                    <a:p>
                      <a:pPr marL="228600" indent="-228600">
                        <a:lnSpc>
                          <a:spcPct val="107000"/>
                        </a:lnSpc>
                        <a:spcAft>
                          <a:spcPts val="600"/>
                        </a:spcAft>
                        <a:buFont typeface="+mj-lt"/>
                        <a:buAutoNum type="alphaLcParenR"/>
                        <a:defRPr/>
                      </a:pPr>
                      <a:r>
                        <a:rPr lang="en-NZ" sz="1600" b="1" kern="1200" dirty="0">
                          <a:solidFill>
                            <a:sysClr val="windowText" lastClr="000000"/>
                          </a:solidFill>
                          <a:effectLst/>
                          <a:latin typeface="Arial" panose="020B0604020202020204" pitchFamily="34" charset="0"/>
                          <a:ea typeface="+mn-ea"/>
                          <a:cs typeface="Arial" panose="020B0604020202020204" pitchFamily="34" charset="0"/>
                        </a:rPr>
                        <a:t> Please stay home if you are feeling unwell.</a:t>
                      </a:r>
                    </a:p>
                    <a:p>
                      <a:pPr marL="228600" indent="-228600">
                        <a:lnSpc>
                          <a:spcPct val="107000"/>
                        </a:lnSpc>
                        <a:spcAft>
                          <a:spcPts val="600"/>
                        </a:spcAft>
                        <a:buFont typeface="+mj-lt"/>
                        <a:buAutoNum type="alphaLcParenR"/>
                        <a:defRPr/>
                      </a:pPr>
                      <a:r>
                        <a:rPr lang="en-NZ" sz="1600" b="1" kern="1200" dirty="0">
                          <a:solidFill>
                            <a:sysClr val="windowText" lastClr="000000"/>
                          </a:solidFill>
                          <a:effectLst/>
                          <a:latin typeface="Arial" panose="020B0604020202020204" pitchFamily="34" charset="0"/>
                          <a:ea typeface="+mn-ea"/>
                          <a:cs typeface="Arial" panose="020B0604020202020204" pitchFamily="34" charset="0"/>
                        </a:rPr>
                        <a:t> Masks are optional while attending Mass.</a:t>
                      </a:r>
                    </a:p>
                    <a:p>
                      <a:pPr marL="228600" indent="-228600">
                        <a:lnSpc>
                          <a:spcPct val="107000"/>
                        </a:lnSpc>
                        <a:spcAft>
                          <a:spcPts val="600"/>
                        </a:spcAft>
                        <a:buFont typeface="+mj-lt"/>
                        <a:buAutoNum type="alphaLcParenR"/>
                        <a:defRPr/>
                      </a:pPr>
                      <a:r>
                        <a:rPr lang="en-NZ" sz="1600" b="1" kern="1200" dirty="0">
                          <a:solidFill>
                            <a:sysClr val="windowText" lastClr="000000"/>
                          </a:solidFill>
                          <a:effectLst/>
                          <a:latin typeface="Arial" panose="020B0604020202020204" pitchFamily="34" charset="0"/>
                          <a:ea typeface="+mn-ea"/>
                          <a:cs typeface="Arial" panose="020B0604020202020204" pitchFamily="34" charset="0"/>
                        </a:rPr>
                        <a:t> Communion is only given on the hand.</a:t>
                      </a:r>
                    </a:p>
                    <a:p>
                      <a:endParaRPr lang="en-AE" sz="1500" dirty="0">
                        <a:effectLst/>
                      </a:endParaRPr>
                    </a:p>
                  </a:txBody>
                  <a:tcPr marL="121920" marR="121920" marT="60960" marB="60960">
                    <a:solidFill>
                      <a:schemeClr val="bg1">
                        <a:lumMod val="85000"/>
                      </a:schemeClr>
                    </a:solidFill>
                  </a:tcPr>
                </a:tc>
                <a:extLst>
                  <a:ext uri="{0D108BD9-81ED-4DB2-BD59-A6C34878D82A}">
                    <a16:rowId xmlns:a16="http://schemas.microsoft.com/office/drawing/2014/main" val="2990046146"/>
                  </a:ext>
                </a:extLst>
              </a:tr>
            </a:tbl>
          </a:graphicData>
        </a:graphic>
      </p:graphicFrame>
    </p:spTree>
    <p:extLst>
      <p:ext uri="{BB962C8B-B14F-4D97-AF65-F5344CB8AC3E}">
        <p14:creationId xmlns:p14="http://schemas.microsoft.com/office/powerpoint/2010/main" val="296425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2258951"/>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8" r:id="rId4"/>
    <p:sldLayoutId id="2147483659" r:id="rId5"/>
    <p:sldLayoutId id="2147483657" r:id="rId6"/>
    <p:sldLayoutId id="2147483660"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1C7C45-6B92-2F0D-8CF1-7ED2C20F3D53}"/>
              </a:ext>
            </a:extLst>
          </p:cNvPr>
          <p:cNvSpPr txBox="1"/>
          <p:nvPr userDrawn="1"/>
        </p:nvSpPr>
        <p:spPr>
          <a:xfrm>
            <a:off x="96751" y="317667"/>
            <a:ext cx="11809312" cy="6222666"/>
          </a:xfrm>
          <a:prstGeom prst="rect">
            <a:avLst/>
          </a:prstGeom>
          <a:noFill/>
        </p:spPr>
        <p:txBody>
          <a:bodyPr wrap="square">
            <a:spAutoFit/>
          </a:bodyPr>
          <a:lstStyle/>
          <a:p>
            <a:pPr>
              <a:defRPr/>
            </a:pPr>
            <a:r>
              <a:rPr lang="en-US" sz="2400" b="1" u="sng" dirty="0">
                <a:latin typeface="Arial" panose="020B0604020202020204" pitchFamily="34" charset="0"/>
                <a:cs typeface="Arial" panose="020B0604020202020204" pitchFamily="34" charset="0"/>
              </a:rPr>
              <a:t>Important health and safety notices:</a:t>
            </a:r>
          </a:p>
          <a:p>
            <a:pPr>
              <a:defRPr/>
            </a:pPr>
            <a:endParaRPr lang="en-US" sz="1100" dirty="0">
              <a:solidFill>
                <a:schemeClr val="bg1"/>
              </a:solidFill>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Fire exit:</a:t>
            </a:r>
            <a:r>
              <a:rPr lang="en-US" sz="1500" b="1" i="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Through the foyer and on either side of the main body of </a:t>
            </a:r>
          </a:p>
          <a:p>
            <a:pPr>
              <a:defRPr/>
            </a:pPr>
            <a:r>
              <a:rPr lang="en-US" sz="2000" b="1" dirty="0">
                <a:latin typeface="Arial" panose="020B0604020202020204" pitchFamily="34" charset="0"/>
                <a:cs typeface="Arial" panose="020B0604020202020204" pitchFamily="34" charset="0"/>
              </a:rPr>
              <a:t>	  the church</a:t>
            </a:r>
            <a:endParaRPr lang="en-US" b="1" dirty="0">
              <a:latin typeface="Arial" panose="020B0604020202020204" pitchFamily="34" charset="0"/>
              <a:cs typeface="Arial" panose="020B0604020202020204" pitchFamily="34" charset="0"/>
            </a:endParaRPr>
          </a:p>
          <a:p>
            <a:pPr>
              <a:defRPr/>
            </a:pPr>
            <a:endParaRPr lang="en-US" sz="1400" b="1" dirty="0">
              <a:latin typeface="Arial" panose="020B0604020202020204" pitchFamily="34" charset="0"/>
              <a:cs typeface="Arial" panose="020B0604020202020204" pitchFamily="34" charset="0"/>
            </a:endParaRPr>
          </a:p>
          <a:p>
            <a:pPr>
              <a:defRPr/>
            </a:pPr>
            <a:r>
              <a:rPr lang="en-US" sz="1500" b="1" i="1" u="sng" dirty="0">
                <a:latin typeface="Arial" panose="020B0604020202020204" pitchFamily="34" charset="0"/>
                <a:cs typeface="Arial" panose="020B0604020202020204" pitchFamily="34" charset="0"/>
              </a:rPr>
              <a:t>Toilets:</a:t>
            </a:r>
            <a:r>
              <a:rPr lang="en-US" sz="1500" b="1" i="1" dirty="0">
                <a:latin typeface="Arial" panose="020B0604020202020204" pitchFamily="34" charset="0"/>
                <a:cs typeface="Arial" panose="020B0604020202020204" pitchFamily="34" charset="0"/>
              </a:rPr>
              <a:t>   </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For public on the right in the foyer.</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Small children must be accompanied by an adult.</a:t>
            </a:r>
          </a:p>
          <a:p>
            <a:pPr marL="685794" lvl="1" indent="-228594">
              <a:buFont typeface="Wingdings" pitchFamily="2" charset="2"/>
              <a:buChar char="ü"/>
              <a:defRPr/>
            </a:pPr>
            <a:r>
              <a:rPr lang="en-US" sz="2000" b="1" dirty="0">
                <a:latin typeface="Arial" panose="020B0604020202020204" pitchFamily="34" charset="0"/>
                <a:cs typeface="Arial" panose="020B0604020202020204" pitchFamily="34" charset="0"/>
              </a:rPr>
              <a:t>Sacristy toilet is for Clergy only.</a:t>
            </a:r>
          </a:p>
          <a:p>
            <a:pPr>
              <a:defRPr/>
            </a:pPr>
            <a:endParaRPr lang="en-US" sz="1100" dirty="0">
              <a:latin typeface="Arial" panose="020B0604020202020204" pitchFamily="34" charset="0"/>
              <a:cs typeface="Arial" panose="020B0604020202020204" pitchFamily="34" charset="0"/>
            </a:endParaRPr>
          </a:p>
          <a:p>
            <a:pPr>
              <a:defRPr/>
            </a:pPr>
            <a:endParaRPr lang="en-US" sz="2400" dirty="0">
              <a:latin typeface="Arial" panose="020B0604020202020204" pitchFamily="34" charset="0"/>
              <a:cs typeface="Arial" panose="020B0604020202020204" pitchFamily="34" charset="0"/>
            </a:endParaRPr>
          </a:p>
          <a:p>
            <a:pPr>
              <a:defRPr/>
            </a:pPr>
            <a:endParaRPr lang="en-US" sz="1600" dirty="0">
              <a:latin typeface="Arial" panose="020B0604020202020204" pitchFamily="34" charset="0"/>
              <a:cs typeface="Arial" panose="020B0604020202020204" pitchFamily="34" charset="0"/>
            </a:endParaRPr>
          </a:p>
          <a:p>
            <a:pPr>
              <a:defRPr/>
            </a:pPr>
            <a:endParaRPr lang="en-US" sz="1600" dirty="0">
              <a:solidFill>
                <a:schemeClr val="bg1"/>
              </a:solidFill>
              <a:latin typeface="Arial" panose="020B0604020202020204" pitchFamily="34" charset="0"/>
              <a:cs typeface="Arial" panose="020B0604020202020204" pitchFamily="34" charset="0"/>
            </a:endParaRPr>
          </a:p>
          <a:p>
            <a:pPr>
              <a:lnSpc>
                <a:spcPct val="107000"/>
              </a:lnSpc>
              <a:spcAft>
                <a:spcPts val="800"/>
              </a:spcAft>
              <a:defRPr/>
            </a:pPr>
            <a:r>
              <a:rPr lang="en-NZ" sz="1600" kern="100" dirty="0">
                <a:latin typeface="Arial" panose="020B0604020202020204" pitchFamily="34" charset="0"/>
                <a:ea typeface="Aptos" panose="020B0004020202020204" pitchFamily="34" charset="0"/>
                <a:cs typeface="Arial" panose="020B0604020202020204" pitchFamily="34" charset="0"/>
              </a:rPr>
              <a:t> </a:t>
            </a: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a:lnSpc>
                <a:spcPct val="107000"/>
              </a:lnSpc>
              <a:spcAft>
                <a:spcPts val="800"/>
              </a:spcAft>
              <a:defRPr/>
            </a:pPr>
            <a:endParaRPr lang="en-NZ" sz="1600" kern="100" dirty="0">
              <a:latin typeface="Arial" panose="020B0604020202020204" pitchFamily="34" charset="0"/>
              <a:ea typeface="Aptos" panose="020B0004020202020204" pitchFamily="34" charset="0"/>
              <a:cs typeface="Arial" panose="020B0604020202020204" pitchFamily="34" charset="0"/>
            </a:endParaRPr>
          </a:p>
          <a:p>
            <a:pPr lvl="1">
              <a:defRPr/>
            </a:pPr>
            <a:endParaRPr lang="en-NZ" sz="2400" b="1" i="1" kern="100" dirty="0">
              <a:latin typeface="Arial" panose="020B0604020202020204" pitchFamily="34" charset="0"/>
              <a:ea typeface="Aptos" panose="020B00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Please </a:t>
            </a:r>
            <a:r>
              <a:rPr lang="en-NZ" sz="2400" b="1" i="1" kern="100" dirty="0">
                <a:solidFill>
                  <a:srgbClr val="FF0000"/>
                </a:solidFill>
                <a:latin typeface="Arial" panose="020B0604020202020204" pitchFamily="34" charset="0"/>
                <a:ea typeface="Aptos" panose="020B0004020202020204" pitchFamily="34" charset="0"/>
                <a:cs typeface="Arial" panose="020B0604020202020204" pitchFamily="34" charset="0"/>
              </a:rPr>
              <a:t>DO NOT </a:t>
            </a:r>
            <a:r>
              <a:rPr lang="en-NZ" sz="2400" b="1" i="1" kern="100" dirty="0">
                <a:latin typeface="Arial" panose="020B0604020202020204" pitchFamily="34" charset="0"/>
                <a:ea typeface="Aptos" panose="020B0004020202020204" pitchFamily="34" charset="0"/>
                <a:cs typeface="Arial" panose="020B0604020202020204" pitchFamily="34" charset="0"/>
              </a:rPr>
              <a:t>let your child /ren play on the stairs.</a:t>
            </a:r>
          </a:p>
          <a:p>
            <a:pPr lvl="1">
              <a:defRPr/>
            </a:pPr>
            <a:r>
              <a:rPr lang="en-US" altLang="en-US" sz="2400" b="1" i="1" kern="100" dirty="0">
                <a:latin typeface="Arial" panose="020B0604020202020204" pitchFamily="34" charset="0"/>
                <a:cs typeface="Arial" panose="020B0604020202020204" pitchFamily="34" charset="0"/>
              </a:rPr>
              <a:t>Please </a:t>
            </a:r>
            <a:r>
              <a:rPr lang="en-US" altLang="en-US" sz="2400" b="1" i="1" kern="100" dirty="0">
                <a:solidFill>
                  <a:srgbClr val="FF0000"/>
                </a:solidFill>
                <a:latin typeface="Arial" panose="020B0604020202020204" pitchFamily="34" charset="0"/>
                <a:cs typeface="Arial" panose="020B0604020202020204" pitchFamily="34" charset="0"/>
              </a:rPr>
              <a:t>TURN OFF  </a:t>
            </a:r>
            <a:r>
              <a:rPr lang="en-US" altLang="en-US" sz="2400" b="1" i="1" kern="100" dirty="0">
                <a:latin typeface="Arial" panose="020B0604020202020204" pitchFamily="34" charset="0"/>
                <a:cs typeface="Arial" panose="020B0604020202020204" pitchFamily="34" charset="0"/>
              </a:rPr>
              <a:t>your cellphone.</a:t>
            </a:r>
            <a:endParaRPr lang="en-NZ" sz="2400" b="1" i="1" kern="100" dirty="0">
              <a:latin typeface="Arial" panose="020B0604020202020204" pitchFamily="34" charset="0"/>
              <a:cs typeface="Arial" panose="020B0604020202020204" pitchFamily="34" charset="0"/>
            </a:endParaRPr>
          </a:p>
          <a:p>
            <a:pPr lvl="1">
              <a:defRPr/>
            </a:pPr>
            <a:r>
              <a:rPr lang="en-NZ" sz="2400" b="1" i="1" kern="100" dirty="0">
                <a:latin typeface="Arial" panose="020B0604020202020204" pitchFamily="34" charset="0"/>
                <a:ea typeface="Aptos" panose="020B0004020202020204" pitchFamily="34" charset="0"/>
                <a:cs typeface="Arial" panose="020B0604020202020204" pitchFamily="34" charset="0"/>
              </a:rPr>
              <a:t>Thank you. God bless.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3AED3460-1975-85E3-3AA8-257FE09416BE}"/>
              </a:ext>
            </a:extLst>
          </p:cNvPr>
          <p:cNvSpPr>
            <a:spLocks noGrp="1"/>
          </p:cNvSpPr>
          <p:nvPr>
            <p:ph type="subTitle" idx="1"/>
          </p:nvPr>
        </p:nvSpPr>
        <p:spPr>
          <a:xfrm>
            <a:off x="1" y="4011683"/>
            <a:ext cx="12191999" cy="1655762"/>
          </a:xfrm>
          <a:prstGeom prst="rect">
            <a:avLst/>
          </a:prstGeom>
          <a:solidFill>
            <a:schemeClr val="bg1">
              <a:alpha val="84857"/>
            </a:schemeClr>
          </a:solidFill>
        </p:spPr>
        <p:txBody>
          <a:bodyPr anchor="ctr"/>
          <a:lstStyle>
            <a:lvl1pPr marL="0" indent="0" algn="ctr">
              <a:buNone/>
              <a:defRPr sz="1800" b="0" i="1">
                <a:solidFill>
                  <a:schemeClr val="accent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God loves us too much to leave us in our sins. He comes to seek us, forgive us, and bring us back. In the Gospel today, the 23rd Sunday in Ordinary Time, Jesus reminds us: no one is ever beyond the mercy of the Father. Even when someone goes astray, the door is never closed there is always a way back, always a new beginning.</a:t>
            </a:r>
          </a:p>
          <a:p>
            <a:r>
              <a:t>This is the Good News: we are loved, we are forgiven, and we are called to bring one another home. As we celebrate this Eucharist, may we receive God’s mercy and share it with others. For we are our brother’s keeper.</a:t>
            </a:r>
          </a:p>
        </p:txBody>
      </p:sp>
      <p:sp>
        <p:nvSpPr>
          <p:cNvPr id="2" name="Title">
            <a:extLst>
              <a:ext uri="{FF2B5EF4-FFF2-40B4-BE49-F238E27FC236}">
                <a16:creationId xmlns:a16="http://schemas.microsoft.com/office/drawing/2014/main" id="{DC4AD2FC-DFED-DCC9-CC6E-4817887135A2}"/>
              </a:ext>
            </a:extLst>
          </p:cNvPr>
          <p:cNvSpPr>
            <a:spLocks noGrp="1"/>
          </p:cNvSpPr>
          <p:nvPr>
            <p:ph type="ctrTitle"/>
          </p:nvPr>
        </p:nvSpPr>
        <p:spPr>
          <a:xfrm>
            <a:off x="0" y="1528549"/>
            <a:ext cx="12192000" cy="2387600"/>
          </a:xfrm>
          <a:prstGeom prst="rect">
            <a:avLst/>
          </a:prstGeom>
          <a:solidFill>
            <a:schemeClr val="bg1">
              <a:alpha val="85000"/>
            </a:schemeClr>
          </a:solidFill>
        </p:spPr>
        <p:txBody>
          <a:bodyPr anchor="ctr"/>
          <a:lstStyle>
            <a:lvl1pPr algn="ctr">
              <a:defRPr sz="5400" b="1">
                <a:solidFill>
                  <a:schemeClr val="accent1"/>
                </a:solidFill>
                <a:latin typeface="Times New Roman" panose="02020603050405020304" pitchFamily="18" charset="0"/>
                <a:cs typeface="Times New Roman" panose="02020603050405020304" pitchFamily="18" charset="0"/>
              </a:defRPr>
            </a:lvl1pPr>
          </a:lstStyle>
          <a:p>
            <a:r>
              <a:t>Twenty-third Sunday in Ordinary Time</a:t>
            </a:r>
          </a:p>
        </p:txBody>
      </p:sp>
      <p:sp>
        <p:nvSpPr>
          <p:cNvPr id="6" name="Date">
            <a:extLst>
              <a:ext uri="{FF2B5EF4-FFF2-40B4-BE49-F238E27FC236}">
                <a16:creationId xmlns:a16="http://schemas.microsoft.com/office/drawing/2014/main" id="{1834E721-FFC6-71BA-0416-FB18DF078827}"/>
              </a:ext>
            </a:extLst>
          </p:cNvPr>
          <p:cNvSpPr>
            <a:spLocks noGrp="1"/>
          </p:cNvSpPr>
          <p:nvPr>
            <p:ph type="body" sz="quarter" idx="10"/>
          </p:nvPr>
        </p:nvSpPr>
        <p:spPr>
          <a:xfrm>
            <a:off x="0" y="3219450"/>
            <a:ext cx="12192000" cy="419100"/>
          </a:xfrm>
          <a:prstGeom prst="rect">
            <a:avLst/>
          </a:prstGeom>
        </p:spPr>
        <p:txBody>
          <a:bodyPr anchor="ctr"/>
          <a:lstStyle>
            <a:lvl1pPr algn="ctr">
              <a:buNone/>
              <a:defRPr sz="1600">
                <a:solidFill>
                  <a:schemeClr val="accent1"/>
                </a:solidFill>
                <a:latin typeface="Times New Roman" panose="02020603050405020304" pitchFamily="18" charset="0"/>
                <a:cs typeface="Times New Roman" panose="02020603050405020304" pitchFamily="18" charset="0"/>
              </a:defRPr>
            </a:lvl1pPr>
          </a:lstStyle>
          <a:p>
            <a:r>
              <a:t>Sunday, 6 September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 sing the mighty power of God</a:t>
            </a:r>
          </a:p>
          <a:p>
            <a:r>
              <a:t>that made the mountains rise,</a:t>
            </a:r>
          </a:p>
          <a:p>
            <a:r>
              <a:t>that spread the flowing seas abroad</a:t>
            </a:r>
          </a:p>
          <a:p>
            <a:r>
              <a:t>and built the lofty skies.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I Sing The Mighty Power Of God </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Arnel Aquino, SJ</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sing the wisdom that ordained </a:t>
            </a:r>
          </a:p>
          <a:p>
            <a:r>
              <a:t>the sun to rule the day</a:t>
            </a:r>
          </a:p>
          <a:p>
            <a:r>
              <a:t>the moon shines full at God’s command,</a:t>
            </a:r>
          </a:p>
          <a:p>
            <a:r>
              <a:t>and all the stars obey.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sing the goodness of the Lord</a:t>
            </a:r>
          </a:p>
          <a:p>
            <a:r>
              <a:t>that filled the earth with food</a:t>
            </a:r>
          </a:p>
          <a:p>
            <a:r>
              <a:t>He formed the creatures with his word</a:t>
            </a:r>
          </a:p>
          <a:p>
            <a:r>
              <a:t>and then pronounced them good.</a:t>
            </a:r>
          </a:p>
          <a:p>
            <a:r>
              <a:t>Lord, how your wonders are displayed,</a:t>
            </a:r>
          </a:p>
          <a:p>
            <a:r>
              <a:t>wherever we turn our eyes,</a:t>
            </a:r>
          </a:p>
          <a:p>
            <a:r>
              <a:t>if we survey the ground we thread</a:t>
            </a:r>
          </a:p>
          <a:p>
            <a:r>
              <a:t>or gaze upon the skies.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Alleluya, Alleluya</a:t>
            </a:r>
          </a:p>
          <a:p>
            <a:r>
              <a:t>I sing the mighty power of God</a:t>
            </a:r>
          </a:p>
          <a:p>
            <a:r>
              <a:t>(repeat)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There's not a plant or flower below</a:t>
            </a:r>
          </a:p>
          <a:p>
            <a:r>
              <a:t>but makes your glories known</a:t>
            </a:r>
          </a:p>
          <a:p>
            <a:r>
              <a:t>and clouds arise and tempests blow</a:t>
            </a:r>
          </a:p>
          <a:p>
            <a:r>
              <a:t>by order from your throne</a:t>
            </a:r>
          </a:p>
          <a:p>
            <a:r>
              <a:t>while all that borrows life from you</a:t>
            </a:r>
          </a:p>
          <a:p>
            <a:r>
              <a:t>is ever in your care,</a:t>
            </a:r>
          </a:p>
          <a:p>
            <a:r>
              <a:t>and everywhere that we can be,</a:t>
            </a:r>
          </a:p>
          <a:p>
            <a:r>
              <a:t>you, God, are present there.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Alleluya, Alleluya</a:t>
            </a:r>
          </a:p>
          <a:p>
            <a:r>
              <a:t>I sing the mighty power of God</a:t>
            </a:r>
          </a:p>
          <a:p>
            <a:r>
              <a:t>(repeat)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sing the mighty power of God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5161685-F24B-4A9C-C096-BFB5D7809575}"/>
              </a:ext>
            </a:extLst>
          </p:cNvPr>
          <p:cNvSpPr>
            <a:spLocks noGrp="1"/>
          </p:cNvSpPr>
          <p:nvPr>
            <p:ph type="body" sz="quarter" idx="10"/>
          </p:nvPr>
        </p:nvSpPr>
        <p:spPr/>
        <p:txBody>
          <a:bodyPr>
            <a:normAutofit/>
          </a:bodyPr>
          <a:lstStyle/>
          <a:p>
            <a:r>
              <a:rPr lang="en-US" sz="6000" dirty="0"/>
              <a:t>Mary’s birth and the </a:t>
            </a:r>
          </a:p>
          <a:p>
            <a:r>
              <a:rPr lang="en-US" sz="6000" dirty="0"/>
              <a:t>consolation of the saints</a:t>
            </a:r>
            <a:r>
              <a:rPr lang="en-AE" sz="6000" dirty="0"/>
              <a:t> </a:t>
            </a:r>
          </a:p>
        </p:txBody>
      </p:sp>
    </p:spTree>
    <p:extLst>
      <p:ext uri="{BB962C8B-B14F-4D97-AF65-F5344CB8AC3E}">
        <p14:creationId xmlns:p14="http://schemas.microsoft.com/office/powerpoint/2010/main" val="419564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1780BA-892E-E73F-0784-9BB491682CF5}"/>
              </a:ext>
            </a:extLst>
          </p:cNvPr>
          <p:cNvSpPr>
            <a:spLocks noGrp="1"/>
          </p:cNvSpPr>
          <p:nvPr>
            <p:ph type="body" sz="quarter" idx="10"/>
          </p:nvPr>
        </p:nvSpPr>
        <p:spPr/>
        <p:txBody>
          <a:bodyPr/>
          <a:lstStyle/>
          <a:p>
            <a:r>
              <a:rPr lang="en-US" dirty="0"/>
              <a:t>Today we lift our eyes to Mary as the ‘Brilliant Aurora of heaven’ </a:t>
            </a:r>
          </a:p>
          <a:p>
            <a:r>
              <a:rPr lang="en-US" dirty="0"/>
              <a:t>We remember how Mary’s birth </a:t>
            </a:r>
          </a:p>
          <a:p>
            <a:r>
              <a:rPr lang="en-US" dirty="0"/>
              <a:t>brought an outpouring of joy </a:t>
            </a:r>
          </a:p>
          <a:p>
            <a:r>
              <a:rPr lang="en-US" dirty="0"/>
              <a:t>and consolation to the souls of the saints.</a:t>
            </a:r>
            <a:r>
              <a:rPr lang="en-AE" dirty="0"/>
              <a:t> </a:t>
            </a:r>
          </a:p>
        </p:txBody>
      </p:sp>
      <p:sp>
        <p:nvSpPr>
          <p:cNvPr id="3" name="Title 2">
            <a:extLst>
              <a:ext uri="{FF2B5EF4-FFF2-40B4-BE49-F238E27FC236}">
                <a16:creationId xmlns:a16="http://schemas.microsoft.com/office/drawing/2014/main" id="{D5ACA923-3D37-ACF4-F455-FEAF5EADFA95}"/>
              </a:ext>
            </a:extLst>
          </p:cNvPr>
          <p:cNvSpPr>
            <a:spLocks noGrp="1"/>
          </p:cNvSpPr>
          <p:nvPr>
            <p:ph type="title"/>
          </p:nvPr>
        </p:nvSpPr>
        <p:spPr/>
        <p:txBody>
          <a:bodyPr/>
          <a:lstStyle/>
          <a:p>
            <a:r>
              <a:rPr lang="en-AE" dirty="0"/>
              <a:t>Meditation</a:t>
            </a:r>
          </a:p>
        </p:txBody>
      </p:sp>
    </p:spTree>
    <p:extLst>
      <p:ext uri="{BB962C8B-B14F-4D97-AF65-F5344CB8AC3E}">
        <p14:creationId xmlns:p14="http://schemas.microsoft.com/office/powerpoint/2010/main" val="4124694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423D13-C0BC-9E83-E293-6F82F9EA14F1}"/>
              </a:ext>
            </a:extLst>
          </p:cNvPr>
          <p:cNvSpPr>
            <a:spLocks noGrp="1"/>
          </p:cNvSpPr>
          <p:nvPr>
            <p:ph type="body" sz="quarter" idx="10"/>
          </p:nvPr>
        </p:nvSpPr>
        <p:spPr/>
        <p:txBody>
          <a:bodyPr/>
          <a:lstStyle/>
          <a:p>
            <a:r>
              <a:rPr lang="en-US" dirty="0"/>
              <a:t>For those enduring long seasons of suffering, moments of spiritual darkness. </a:t>
            </a:r>
          </a:p>
          <a:p>
            <a:r>
              <a:rPr lang="en-US" dirty="0"/>
              <a:t>For the grace of patience in adversities and surrender to God’s Holy will.</a:t>
            </a:r>
            <a:r>
              <a:rPr lang="en-AE" dirty="0"/>
              <a:t> </a:t>
            </a:r>
          </a:p>
        </p:txBody>
      </p:sp>
      <p:sp>
        <p:nvSpPr>
          <p:cNvPr id="3" name="Title 2">
            <a:extLst>
              <a:ext uri="{FF2B5EF4-FFF2-40B4-BE49-F238E27FC236}">
                <a16:creationId xmlns:a16="http://schemas.microsoft.com/office/drawing/2014/main" id="{3C01CBE6-B649-2129-CE05-D61589F199BA}"/>
              </a:ext>
            </a:extLst>
          </p:cNvPr>
          <p:cNvSpPr>
            <a:spLocks noGrp="1"/>
          </p:cNvSpPr>
          <p:nvPr>
            <p:ph type="title"/>
          </p:nvPr>
        </p:nvSpPr>
        <p:spPr/>
        <p:txBody>
          <a:bodyPr/>
          <a:lstStyle/>
          <a:p>
            <a:r>
              <a:rPr lang="en-AE" dirty="0"/>
              <a:t>Prayer Intention</a:t>
            </a:r>
          </a:p>
        </p:txBody>
      </p:sp>
    </p:spTree>
    <p:extLst>
      <p:ext uri="{BB962C8B-B14F-4D97-AF65-F5344CB8AC3E}">
        <p14:creationId xmlns:p14="http://schemas.microsoft.com/office/powerpoint/2010/main" val="400130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7815-8A9E-B861-E320-3C1B96850D1E}"/>
            </a:ext>
          </a:extLst>
        </p:cNvPr>
        <p:cNvGrpSpPr/>
        <p:nvPr/>
      </p:nvGrpSpPr>
      <p:grpSpPr>
        <a:xfrm>
          <a:off x="0" y="0"/>
          <a:ext cx="0" cy="0"/>
          <a:chOff x="0" y="0"/>
          <a:chExt cx="0" cy="0"/>
        </a:xfrm>
      </p:grpSpPr>
    </p:spTree>
    <p:extLst>
      <p:ext uri="{BB962C8B-B14F-4D97-AF65-F5344CB8AC3E}">
        <p14:creationId xmlns:p14="http://schemas.microsoft.com/office/powerpoint/2010/main" val="1281250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 confess to almighty God and to you, </a:t>
            </a:r>
          </a:p>
          <a:p>
            <a:r>
              <a:t>my brothers and sisters, </a:t>
            </a:r>
          </a:p>
          <a:p>
            <a:r>
              <a:t>that I have greatly sinned, </a:t>
            </a:r>
          </a:p>
          <a:p>
            <a:r>
              <a:t>in my thoughts and in my words, </a:t>
            </a:r>
          </a:p>
          <a:p>
            <a:r>
              <a:t>in what I have done </a:t>
            </a:r>
          </a:p>
          <a:p>
            <a:r>
              <a:t>and in what I have failed to do.</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Penitential Act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Through my fault, through my fault, </a:t>
            </a:r>
          </a:p>
          <a:p>
            <a:r>
              <a:t>through my most grievous fault.</a:t>
            </a:r>
          </a:p>
          <a:p>
            <a:r>
              <a:t>Therefore I ask blessed Mary ever-Virgin, </a:t>
            </a:r>
          </a:p>
          <a:p>
            <a:r>
              <a:t>all the Angels and Saints, </a:t>
            </a:r>
          </a:p>
          <a:p>
            <a:r>
              <a:t>and you, my brothers and sisters, </a:t>
            </a:r>
          </a:p>
          <a:p>
            <a:r>
              <a:t>to pray for me to the Lord our God.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May almighty God have mercy on us, </a:t>
            </a:r>
          </a:p>
          <a:p>
            <a:r>
              <a:t>forgive us our sins, </a:t>
            </a:r>
          </a:p>
          <a:p>
            <a:r>
              <a:t>and bring us to everlasting life.</a:t>
            </a:r>
          </a:p>
          <a:p>
            <a:r>
              <a:t>Amen.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Lord Have Mercy (2x)</a:t>
            </a:r>
          </a:p>
          <a:p>
            <a:r>
              <a:t>Christ Have Mercy (2x)</a:t>
            </a:r>
          </a:p>
          <a:p>
            <a:r>
              <a:t>Lord Have Mercy (2x)</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Lord Have Mercy</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Douglas Mews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Glory To God In The Highest</a:t>
            </a:r>
          </a:p>
          <a:p>
            <a:r>
              <a:t>And On Earth </a:t>
            </a:r>
          </a:p>
          <a:p>
            <a:r>
              <a:t>Peace To People Of Goodwill</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Glory To God</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Ricky Manalo  • OneLicense #91646 • ℗ 2012 OCP. All rights reserved. All selections BMI.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We Praise You, We Bless You</a:t>
            </a:r>
          </a:p>
          <a:p>
            <a:r>
              <a:t>We Adore You, We Glorify You</a:t>
            </a:r>
          </a:p>
          <a:p>
            <a:r>
              <a:t>We Give You Thanks </a:t>
            </a:r>
          </a:p>
          <a:p>
            <a:r>
              <a:t>For Your Great Glory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Lord God, Heavenly King</a:t>
            </a:r>
          </a:p>
          <a:p>
            <a:r>
              <a:t>O God, Almighty Father</a:t>
            </a:r>
          </a:p>
          <a:p>
            <a:r>
              <a:t>Lord Jesus Christ</a:t>
            </a:r>
          </a:p>
          <a:p>
            <a:r>
              <a:t>Only Begotten Son</a:t>
            </a:r>
          </a:p>
          <a:p>
            <a:r>
              <a:t>Lord God, Lamb Of God</a:t>
            </a:r>
          </a:p>
          <a:p>
            <a:r>
              <a:t>Son Of The Father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Take Away The Sins Of The World</a:t>
            </a:r>
          </a:p>
          <a:p>
            <a:r>
              <a:t>Have Mercy On Us</a:t>
            </a:r>
          </a:p>
          <a:p>
            <a:r>
              <a:t>You Take Away The Sins Of The World</a:t>
            </a:r>
          </a:p>
          <a:p>
            <a:r>
              <a:t>Receive Our Prayer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Are Seated At The Right Hand </a:t>
            </a:r>
          </a:p>
          <a:p>
            <a:r>
              <a:t>Of The Father</a:t>
            </a:r>
          </a:p>
          <a:p>
            <a:r>
              <a:t>Have Mercy On Us</a:t>
            </a:r>
          </a:p>
          <a:p>
            <a:r>
              <a:t>For You Alone Are The Holy One</a:t>
            </a:r>
          </a:p>
          <a:p>
            <a:r>
              <a:t>You Alone Are The Lord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Alone Are The Most High</a:t>
            </a:r>
          </a:p>
          <a:p>
            <a:r>
              <a:t>Jesus Christ</a:t>
            </a:r>
          </a:p>
          <a:p>
            <a:r>
              <a:t>With The Holy Spirit</a:t>
            </a:r>
          </a:p>
          <a:p>
            <a:r>
              <a:t>In The Glory Of God, The Father</a:t>
            </a:r>
          </a:p>
          <a:p>
            <a:r>
              <a:t>Amen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If today you hear His voice </a:t>
            </a:r>
          </a:p>
          <a:p>
            <a:r>
              <a:t>harden not your hearts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Responsorial Psalm</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Psalm 95 • 1-2,6-7,8-9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Alleluia!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I believe in one God,  </a:t>
            </a:r>
          </a:p>
          <a:p>
            <a:r>
              <a:t>the Father almighty,  </a:t>
            </a:r>
          </a:p>
          <a:p>
            <a:r>
              <a:t>maker of heaven and earth, </a:t>
            </a:r>
          </a:p>
          <a:p>
            <a:r>
              <a:t>of all things visible and invisible.</a:t>
            </a:r>
          </a:p>
          <a:p>
            <a:r>
              <a:t>I believe in one Lord Jesus Christ,  </a:t>
            </a:r>
          </a:p>
          <a:p>
            <a:r>
              <a:t>the Only Begotten Son </a:t>
            </a:r>
          </a:p>
          <a:p>
            <a:r>
              <a:t>of God, born of the Father </a:t>
            </a:r>
          </a:p>
          <a:p>
            <a:r>
              <a:t>before all ages.</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Nicene Creed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God from God, Light from Light,</a:t>
            </a:r>
          </a:p>
          <a:p>
            <a:r>
              <a:t>true God from true God,</a:t>
            </a:r>
          </a:p>
          <a:p>
            <a:r>
              <a:t>begotten, not made, </a:t>
            </a:r>
          </a:p>
          <a:p>
            <a:r>
              <a:t>consubstantial with the Father</a:t>
            </a:r>
          </a:p>
          <a:p>
            <a:r>
              <a:t>through Him all things were made. </a:t>
            </a:r>
          </a:p>
          <a:p>
            <a:r>
              <a:t>For us and for our salvation </a:t>
            </a:r>
          </a:p>
          <a:p>
            <a:r>
              <a:t>he came down from heaven, </a:t>
            </a:r>
          </a:p>
          <a:p>
            <a:r>
              <a:t>and by the Holy Spirit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was incarnate of the Virgin Mary, </a:t>
            </a:r>
          </a:p>
          <a:p>
            <a:r>
              <a:t>and became man. </a:t>
            </a:r>
          </a:p>
          <a:p>
            <a:r>
              <a:t>For our sake he was crucified </a:t>
            </a:r>
          </a:p>
          <a:p>
            <a:r>
              <a:t>under Pontius Pilate,</a:t>
            </a:r>
          </a:p>
          <a:p>
            <a:r>
              <a:t>He suffered death and was buried, </a:t>
            </a:r>
          </a:p>
          <a:p>
            <a:r>
              <a:t>and rose again on the</a:t>
            </a:r>
          </a:p>
          <a:p>
            <a:r>
              <a:t>third day in accordance</a:t>
            </a:r>
          </a:p>
          <a:p>
            <a:r>
              <a:t>with the Scriptures.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He ascended into heaven and is seated </a:t>
            </a:r>
          </a:p>
          <a:p>
            <a:r>
              <a:t>at the right hand of the Father.</a:t>
            </a:r>
          </a:p>
          <a:p>
            <a:r>
              <a:t>He will come again in glory</a:t>
            </a:r>
          </a:p>
          <a:p>
            <a:r>
              <a:t>to judge the living and the dead</a:t>
            </a:r>
          </a:p>
          <a:p>
            <a:r>
              <a:t>and his kingdom will have no end.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believe in the Holy Spirit, </a:t>
            </a:r>
          </a:p>
          <a:p>
            <a:r>
              <a:t>the Lord, the giver of life,</a:t>
            </a:r>
          </a:p>
          <a:p>
            <a:r>
              <a:t>who proceeds from </a:t>
            </a:r>
          </a:p>
          <a:p>
            <a:r>
              <a:t>the Father and the Son,</a:t>
            </a:r>
          </a:p>
          <a:p>
            <a:r>
              <a:t>who with the Father and the Son </a:t>
            </a:r>
          </a:p>
          <a:p>
            <a:r>
              <a:t>is adored and glorified </a:t>
            </a:r>
          </a:p>
          <a:p>
            <a:r>
              <a:t>who has spoken through the prophets.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believe in one, holy, </a:t>
            </a:r>
          </a:p>
          <a:p>
            <a:r>
              <a:t>catholic and apostolic Church.</a:t>
            </a:r>
          </a:p>
          <a:p>
            <a:r>
              <a:t>I confess one Baptism </a:t>
            </a:r>
          </a:p>
          <a:p>
            <a:r>
              <a:t>for the forgiveness of sins</a:t>
            </a:r>
          </a:p>
          <a:p>
            <a:r>
              <a:t>and I look forward to the resurrection </a:t>
            </a:r>
          </a:p>
          <a:p>
            <a:r>
              <a:t>of the dead and the life </a:t>
            </a:r>
          </a:p>
          <a:p>
            <a:r>
              <a:t>of the world to come. Amen.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(Lord, hear our prayer)</a:t>
            </a:r>
          </a:p>
          <a:p>
            <a:endParaRPr/>
          </a:p>
          <a:p>
            <a:r>
              <a:t>Whakarongo mai rā ki a mātou</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Prayers of the Faithful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D0E458C-49A4-D1C7-A9B7-D7BD06B2172A}"/>
              </a:ext>
            </a:extLst>
          </p:cNvPr>
          <p:cNvSpPr>
            <a:spLocks noGrp="1"/>
          </p:cNvSpPr>
          <p:nvPr>
            <p:ph type="body" sz="quarter" idx="10"/>
          </p:nvPr>
        </p:nvSpPr>
        <p:spPr>
          <a:xfrm>
            <a:off x="0" y="765544"/>
            <a:ext cx="12192000" cy="6092456"/>
          </a:xfrm>
        </p:spPr>
        <p:txBody>
          <a:bodyPr>
            <a:normAutofit fontScale="92500" lnSpcReduction="10000"/>
          </a:bodyPr>
          <a:lstStyle/>
          <a:p>
            <a:r>
              <a:rPr lang="en-US" dirty="0"/>
              <a:t>Brilliant Aurora of Heaven, lovable Mary, thy birth brought great consolation to the souls of the saints detained in limbo, for it announced the approach of the Sun of Justice, Jesus Christ, who would enlighten their darkness and then conduct them to paradise. May thy birth give joy to my soul also, and obtain for me from God, patience in all adversities, a perfect and constant conformity to His most holy will.</a:t>
            </a:r>
          </a:p>
          <a:p>
            <a:r>
              <a:rPr lang="en-US" sz="4300" i="1" dirty="0">
                <a:solidFill>
                  <a:srgbClr val="FF0000"/>
                </a:solidFill>
              </a:rPr>
              <a:t>Hail Mary...</a:t>
            </a:r>
            <a:endParaRPr lang="en-AE" sz="4300" i="1" dirty="0">
              <a:solidFill>
                <a:srgbClr val="FF0000"/>
              </a:solidFill>
            </a:endParaRPr>
          </a:p>
        </p:txBody>
      </p:sp>
      <p:sp>
        <p:nvSpPr>
          <p:cNvPr id="4" name="Title 3">
            <a:extLst>
              <a:ext uri="{FF2B5EF4-FFF2-40B4-BE49-F238E27FC236}">
                <a16:creationId xmlns:a16="http://schemas.microsoft.com/office/drawing/2014/main" id="{D7BBE51A-53AB-C594-900C-621D2D3774C3}"/>
              </a:ext>
            </a:extLst>
          </p:cNvPr>
          <p:cNvSpPr>
            <a:spLocks noGrp="1"/>
          </p:cNvSpPr>
          <p:nvPr>
            <p:ph type="title"/>
          </p:nvPr>
        </p:nvSpPr>
        <p:spPr>
          <a:xfrm>
            <a:off x="0" y="1"/>
            <a:ext cx="12192000" cy="765543"/>
          </a:xfrm>
        </p:spPr>
        <p:txBody>
          <a:bodyPr>
            <a:normAutofit fontScale="90000"/>
          </a:bodyPr>
          <a:lstStyle/>
          <a:p>
            <a:r>
              <a:rPr lang="en-AE" dirty="0"/>
              <a:t>Novena Prayer</a:t>
            </a:r>
          </a:p>
        </p:txBody>
      </p:sp>
    </p:spTree>
    <p:extLst>
      <p:ext uri="{BB962C8B-B14F-4D97-AF65-F5344CB8AC3E}">
        <p14:creationId xmlns:p14="http://schemas.microsoft.com/office/powerpoint/2010/main" val="102645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3B5B10A-738B-B8AC-821E-461E01C87554}"/>
              </a:ext>
            </a:extLst>
          </p:cNvPr>
          <p:cNvSpPr>
            <a:spLocks noGrp="1"/>
          </p:cNvSpPr>
          <p:nvPr>
            <p:ph type="body" sz="quarter" idx="10"/>
          </p:nvPr>
        </p:nvSpPr>
        <p:spPr/>
        <p:txBody>
          <a:bodyPr>
            <a:normAutofit/>
          </a:bodyPr>
          <a:lstStyle/>
          <a:p>
            <a:r>
              <a:rPr lang="en-US" sz="4400" dirty="0"/>
              <a:t>Oh, Infant Mary, God almighty chose you as the Mother of Jesus and has adorned you with my virtues. You brought happiness to your family by your birth. By becoming the mother of the Redeemer in your life, you did a great </a:t>
            </a:r>
            <a:r>
              <a:rPr lang="en-US" sz="4400" dirty="0" err="1"/>
              <a:t>favour</a:t>
            </a:r>
            <a:r>
              <a:rPr lang="en-US" sz="4400" dirty="0"/>
              <a:t> to the humankind. Destroying the curse, bestowed the blessing and confounding us with life everlasting. You gave your cooperation for our salvation. For this reason, we are grateful to you.</a:t>
            </a:r>
            <a:endParaRPr lang="en-AE" sz="4400" dirty="0"/>
          </a:p>
        </p:txBody>
      </p:sp>
    </p:spTree>
    <p:extLst>
      <p:ext uri="{BB962C8B-B14F-4D97-AF65-F5344CB8AC3E}">
        <p14:creationId xmlns:p14="http://schemas.microsoft.com/office/powerpoint/2010/main" val="3601725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E804D9-9489-B2BB-5858-CC1D6EA25007}"/>
              </a:ext>
            </a:extLst>
          </p:cNvPr>
          <p:cNvSpPr>
            <a:spLocks noGrp="1"/>
          </p:cNvSpPr>
          <p:nvPr>
            <p:ph type="body" sz="quarter" idx="10"/>
          </p:nvPr>
        </p:nvSpPr>
        <p:spPr/>
        <p:txBody>
          <a:bodyPr>
            <a:normAutofit/>
          </a:bodyPr>
          <a:lstStyle/>
          <a:p>
            <a:r>
              <a:rPr lang="en-US" sz="4400" dirty="0"/>
              <a:t>By saying “I am the handmaid of the Lord”, you humbled yourself completely before God and gave the first place in your life to the will of God. your sacrificial life gives us an inspiration. Being chosen by God as the Mother of Christian families, send your immense blessings upon our families by your prayers, inspire us to love, be united and to serve one another in our families. Make us persons of joy in our families.</a:t>
            </a:r>
            <a:endParaRPr lang="en-AE" sz="4400" dirty="0"/>
          </a:p>
        </p:txBody>
      </p:sp>
    </p:spTree>
    <p:extLst>
      <p:ext uri="{BB962C8B-B14F-4D97-AF65-F5344CB8AC3E}">
        <p14:creationId xmlns:p14="http://schemas.microsoft.com/office/powerpoint/2010/main" val="45622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3E3F88-7B27-2428-671D-83985A7F1406}"/>
              </a:ext>
            </a:extLst>
          </p:cNvPr>
          <p:cNvSpPr>
            <a:spLocks noGrp="1"/>
          </p:cNvSpPr>
          <p:nvPr>
            <p:ph type="body" sz="quarter" idx="10"/>
          </p:nvPr>
        </p:nvSpPr>
        <p:spPr/>
        <p:txBody>
          <a:bodyPr>
            <a:normAutofit/>
          </a:bodyPr>
          <a:lstStyle/>
          <a:p>
            <a:r>
              <a:rPr lang="en-US" sz="4400" dirty="0"/>
              <a:t>O Mary, teach us to become humble like you. By obeying the Word of God, help us to build our lives according to it. Reach out to us in our difficulties, sadness, harms and dangers. Grant all the necessary things in our life by interceding to your Son,</a:t>
            </a:r>
          </a:p>
          <a:p>
            <a:endParaRPr lang="en-US" sz="3200" dirty="0"/>
          </a:p>
          <a:p>
            <a:r>
              <a:rPr lang="en-US" sz="3600" i="1" dirty="0">
                <a:solidFill>
                  <a:srgbClr val="FF0000"/>
                </a:solidFill>
              </a:rPr>
              <a:t>Please State your personal intensions </a:t>
            </a:r>
          </a:p>
          <a:p>
            <a:r>
              <a:rPr lang="en-US" sz="2800" i="1" dirty="0">
                <a:solidFill>
                  <a:srgbClr val="FF0000"/>
                </a:solidFill>
              </a:rPr>
              <a:t>(Pause for 1 minute)</a:t>
            </a:r>
            <a:endParaRPr lang="en-AE" sz="2800" i="1" dirty="0">
              <a:solidFill>
                <a:srgbClr val="FF0000"/>
              </a:solidFill>
            </a:endParaRPr>
          </a:p>
        </p:txBody>
      </p:sp>
    </p:spTree>
    <p:extLst>
      <p:ext uri="{BB962C8B-B14F-4D97-AF65-F5344CB8AC3E}">
        <p14:creationId xmlns:p14="http://schemas.microsoft.com/office/powerpoint/2010/main" val="2865290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0C127-6F76-EB3E-A079-A3E8027F4074}"/>
              </a:ext>
            </a:extLst>
          </p:cNvPr>
          <p:cNvSpPr>
            <a:spLocks noGrp="1"/>
          </p:cNvSpPr>
          <p:nvPr>
            <p:ph type="body" sz="quarter" idx="10"/>
          </p:nvPr>
        </p:nvSpPr>
        <p:spPr/>
        <p:txBody>
          <a:bodyPr>
            <a:normAutofit/>
          </a:bodyPr>
          <a:lstStyle/>
          <a:p>
            <a:r>
              <a:rPr lang="en-US" sz="4400" dirty="0"/>
              <a:t>Grant to us your servants, we beseech you. O Lord, the gift of your heavenly grace, that as our salvation was begun in the childbearing of the Blessed Virgin, so from this solemn festival of her Nativity May we obtain an increase of peace. Through Our Lord Jesus Christ. </a:t>
            </a:r>
          </a:p>
          <a:p>
            <a:endParaRPr lang="en-US" sz="2800" dirty="0"/>
          </a:p>
          <a:p>
            <a:r>
              <a:rPr lang="en-US" dirty="0"/>
              <a:t>Amen.</a:t>
            </a:r>
            <a:endParaRPr lang="en-AE" dirty="0"/>
          </a:p>
        </p:txBody>
      </p:sp>
    </p:spTree>
    <p:extLst>
      <p:ext uri="{BB962C8B-B14F-4D97-AF65-F5344CB8AC3E}">
        <p14:creationId xmlns:p14="http://schemas.microsoft.com/office/powerpoint/2010/main" val="175169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C021-97B7-1D2F-EF2B-883E44583C32}"/>
            </a:ext>
          </a:extLst>
        </p:cNvPr>
        <p:cNvGrpSpPr/>
        <p:nvPr/>
      </p:nvGrpSpPr>
      <p:grpSpPr>
        <a:xfrm>
          <a:off x="0" y="0"/>
          <a:ext cx="0" cy="0"/>
          <a:chOff x="0" y="0"/>
          <a:chExt cx="0" cy="0"/>
        </a:xfrm>
      </p:grpSpPr>
    </p:spTree>
    <p:extLst>
      <p:ext uri="{BB962C8B-B14F-4D97-AF65-F5344CB8AC3E}">
        <p14:creationId xmlns:p14="http://schemas.microsoft.com/office/powerpoint/2010/main" val="166627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May the Lord accept </a:t>
            </a:r>
          </a:p>
          <a:p>
            <a:r>
              <a:t>the sacrifice at your hands, </a:t>
            </a:r>
          </a:p>
          <a:p>
            <a:r>
              <a:t>for the praise and glory of His name, </a:t>
            </a:r>
          </a:p>
          <a:p>
            <a:r>
              <a:t>for our good and the good </a:t>
            </a:r>
          </a:p>
          <a:p>
            <a:r>
              <a:t>of all his holy church</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Lord, we gather today</a:t>
            </a:r>
          </a:p>
          <a:p>
            <a:r>
              <a:t>In Your house, we kneel down and pray</a:t>
            </a:r>
          </a:p>
          <a:p>
            <a:r>
              <a:t>We ask for Your mercy</a:t>
            </a:r>
          </a:p>
          <a:p>
            <a:r>
              <a:t>as we open our hearts</a:t>
            </a:r>
          </a:p>
          <a:p>
            <a:r>
              <a:t>To receive Your forgiveness, oh Lord</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Lord We Gather Today</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Lester Delgado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Lord, we lift up to You</a:t>
            </a:r>
          </a:p>
          <a:p>
            <a:r>
              <a:t>All these gifts we offer for Your glory</a:t>
            </a:r>
          </a:p>
          <a:p>
            <a:r>
              <a:t>We will eat this living bread, </a:t>
            </a:r>
          </a:p>
          <a:p>
            <a:r>
              <a:t>we will drink this saving cup</a:t>
            </a:r>
          </a:p>
          <a:p>
            <a:r>
              <a:t>And feel of Your presence, oh Lord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As we offer this Bread </a:t>
            </a:r>
          </a:p>
          <a:p>
            <a:r>
              <a:t>and as we bring You this wine</a:t>
            </a:r>
          </a:p>
          <a:p>
            <a:r>
              <a:t>Bless them Lord Jesus </a:t>
            </a:r>
          </a:p>
          <a:p>
            <a:r>
              <a:t>feed us now, give us life</a:t>
            </a:r>
          </a:p>
          <a:p>
            <a:r>
              <a:t>Send us Your spirit, </a:t>
            </a:r>
          </a:p>
          <a:p>
            <a:r>
              <a:t>the source of our lives</a:t>
            </a:r>
          </a:p>
          <a:p>
            <a:r>
              <a:t>And together we will serve You with love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As we offer this Bread </a:t>
            </a:r>
          </a:p>
          <a:p>
            <a:r>
              <a:t>and as we bring You this wine</a:t>
            </a:r>
          </a:p>
          <a:p>
            <a:r>
              <a:t>Bless them Lord Jesus </a:t>
            </a:r>
          </a:p>
          <a:p>
            <a:r>
              <a:t>feed us now, give us life</a:t>
            </a:r>
          </a:p>
          <a:p>
            <a:r>
              <a:t>Send us Your spirit, </a:t>
            </a:r>
          </a:p>
          <a:p>
            <a:r>
              <a:t>the source of our lives</a:t>
            </a:r>
          </a:p>
          <a:p>
            <a:r>
              <a:t>And together we will serve You with love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Holy, Holy, Holy Lord, </a:t>
            </a:r>
          </a:p>
          <a:p>
            <a:r>
              <a:t>God of power and might</a:t>
            </a:r>
          </a:p>
          <a:p>
            <a:r>
              <a:t>Heaven and earth, </a:t>
            </a:r>
          </a:p>
          <a:p>
            <a:r>
              <a:t>Are full of your Glory</a:t>
            </a:r>
          </a:p>
          <a:p>
            <a:r>
              <a:t>Hosanna in the highest.</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Holy Holy</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Blessed is He, blessed is He, </a:t>
            </a:r>
          </a:p>
          <a:p>
            <a:r>
              <a:t>Who comes in the name </a:t>
            </a:r>
          </a:p>
          <a:p>
            <a:r>
              <a:t>of the Lord</a:t>
            </a:r>
          </a:p>
          <a:p>
            <a:r>
              <a:t>Blessed is He, blessed is He, </a:t>
            </a:r>
          </a:p>
          <a:p>
            <a:r>
              <a:t>Hosanna in the highest.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We proclaim your death O Lord</a:t>
            </a:r>
          </a:p>
          <a:p>
            <a:r>
              <a:t>And profess you resurrection</a:t>
            </a:r>
          </a:p>
          <a:p>
            <a:r>
              <a:t>Until you come again</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Memorial Acclamation</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Douglas Mews • Music © Douglas Mews 2010. Used with permission. Mass of St Theresa. Texts© ICEL 2010.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Amen</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Great Amen</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Our Father, who art in heaven, </a:t>
            </a:r>
          </a:p>
          <a:p>
            <a:r>
              <a:t>Hallowed be Thy name. </a:t>
            </a:r>
          </a:p>
          <a:p>
            <a:r>
              <a:t>Thy kingdom come, </a:t>
            </a:r>
          </a:p>
          <a:p>
            <a:r>
              <a:t>Thy will be done </a:t>
            </a:r>
          </a:p>
          <a:p>
            <a:r>
              <a:t>on earth as it is in heaven</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Our Father</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Fr. Nez Marcelo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Give us this day our daily bread, </a:t>
            </a:r>
          </a:p>
          <a:p>
            <a:r>
              <a:t>And forgive us our trespasses. </a:t>
            </a:r>
          </a:p>
          <a:p>
            <a:r>
              <a:t>As we forgive those who trespass </a:t>
            </a:r>
          </a:p>
          <a:p>
            <a:r>
              <a:t>against us.</a:t>
            </a:r>
          </a:p>
          <a:p>
            <a:r>
              <a:t>And lead us not into temptation </a:t>
            </a:r>
          </a:p>
          <a:p>
            <a:r>
              <a:t>but deliver us, </a:t>
            </a:r>
          </a:p>
          <a:p>
            <a:r>
              <a:t>deliver us from evil.</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For the kingdom, the power, </a:t>
            </a:r>
          </a:p>
          <a:p>
            <a:r>
              <a:t>and the glory are Yours,</a:t>
            </a:r>
          </a:p>
          <a:p>
            <a:r>
              <a:t>Now and forever.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Lamb of God You take away</a:t>
            </a:r>
          </a:p>
          <a:p>
            <a:r>
              <a:t>The sins of the world</a:t>
            </a:r>
          </a:p>
          <a:p>
            <a:r>
              <a:t>Have mercy, have mercy on us</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Lamb of God</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Manoling Francisco</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Lamb of God You take away</a:t>
            </a:r>
          </a:p>
          <a:p>
            <a:r>
              <a:t>The sins of the world</a:t>
            </a:r>
          </a:p>
          <a:p>
            <a:r>
              <a:t>Have mercy, have mercy on us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Lamb of God You take away</a:t>
            </a:r>
          </a:p>
          <a:p>
            <a:r>
              <a:t>The sins of the world</a:t>
            </a:r>
          </a:p>
          <a:p>
            <a:r>
              <a:t>Grant us peace..</a:t>
            </a:r>
          </a:p>
          <a:p>
            <a:r>
              <a:t>Grant us peace..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Lord, I am not worthy </a:t>
            </a:r>
          </a:p>
          <a:p>
            <a:r>
              <a:t>that you should enter under my roof, </a:t>
            </a:r>
          </a:p>
          <a:p>
            <a:r>
              <a:t>but only say the word </a:t>
            </a:r>
          </a:p>
          <a:p>
            <a:r>
              <a:t>and my soul shall be be healed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lnSpcReduction="10000"/>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rPr dirty="0"/>
              <a:t>All that I am sings of the God</a:t>
            </a:r>
          </a:p>
          <a:p>
            <a:r>
              <a:rPr dirty="0"/>
              <a:t>who brings new life to birth in me.</a:t>
            </a:r>
          </a:p>
          <a:p>
            <a:r>
              <a:rPr dirty="0"/>
              <a:t>My spirit soars on the wings of my Lord.</a:t>
            </a:r>
          </a:p>
          <a:p>
            <a:endParaRPr sz="4000" dirty="0"/>
          </a:p>
          <a:p>
            <a:r>
              <a:rPr dirty="0"/>
              <a:t>All that I am sings of the God</a:t>
            </a:r>
          </a:p>
          <a:p>
            <a:r>
              <a:rPr dirty="0"/>
              <a:t>who brings new life to birth in me.</a:t>
            </a:r>
          </a:p>
          <a:p>
            <a:r>
              <a:rPr dirty="0"/>
              <a:t>My spirit soars on the wings of </a:t>
            </a:r>
            <a:r>
              <a:rPr dirty="0">
                <a:solidFill>
                  <a:srgbClr val="FF0000"/>
                </a:solidFill>
              </a:rPr>
              <a:t>my Lord. </a:t>
            </a:r>
          </a:p>
          <a:p>
            <a:r>
              <a:rPr i="1" dirty="0">
                <a:solidFill>
                  <a:schemeClr val="accent1"/>
                </a:solidFill>
              </a:rPr>
              <a:t>(My soul gives glory to the Lord)</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Magniﬁcat</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David Haas • OneLicense #04098 • © 1990 GIA Publications, Inc.</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rPr dirty="0"/>
              <a:t>rejoicing in my saving </a:t>
            </a:r>
            <a:r>
              <a:rPr dirty="0">
                <a:solidFill>
                  <a:srgbClr val="FF0000"/>
                </a:solidFill>
              </a:rPr>
              <a:t>God,</a:t>
            </a:r>
          </a:p>
          <a:p>
            <a:r>
              <a:rPr i="1" dirty="0">
                <a:solidFill>
                  <a:schemeClr val="accent1"/>
                </a:solidFill>
              </a:rPr>
              <a:t>who looks upon me in my state, </a:t>
            </a:r>
          </a:p>
          <a:p>
            <a:r>
              <a:rPr dirty="0"/>
              <a:t>and all the world will call me </a:t>
            </a:r>
            <a:r>
              <a:rPr dirty="0">
                <a:solidFill>
                  <a:srgbClr val="FF0000"/>
                </a:solidFill>
              </a:rPr>
              <a:t>blest;</a:t>
            </a:r>
          </a:p>
          <a:p>
            <a:r>
              <a:rPr i="1" dirty="0">
                <a:solidFill>
                  <a:schemeClr val="accent1"/>
                </a:solidFill>
              </a:rPr>
              <a:t>For God works marvels in my sight,</a:t>
            </a:r>
          </a:p>
          <a:p>
            <a:r>
              <a:rPr dirty="0"/>
              <a:t>and holy, holy is God's </a:t>
            </a:r>
            <a:r>
              <a:rPr dirty="0">
                <a:solidFill>
                  <a:srgbClr val="FF0000"/>
                </a:solidFill>
              </a:rPr>
              <a:t>name.</a:t>
            </a:r>
          </a:p>
          <a:p>
            <a:endParaRPr dirty="0"/>
          </a:p>
          <a:p>
            <a:r>
              <a:rPr i="1" dirty="0">
                <a:solidFill>
                  <a:schemeClr val="accent1"/>
                </a:solidFill>
              </a:rPr>
              <a:t>All that I am sings of the God</a:t>
            </a:r>
          </a:p>
          <a:p>
            <a:r>
              <a:rPr dirty="0"/>
              <a:t>who brings new life to birth in me.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rPr dirty="0"/>
              <a:t>My spirit soars on the wings of </a:t>
            </a:r>
            <a:r>
              <a:rPr dirty="0">
                <a:solidFill>
                  <a:srgbClr val="FF0000"/>
                </a:solidFill>
              </a:rPr>
              <a:t>my Lord.</a:t>
            </a:r>
            <a:r>
              <a:rPr dirty="0"/>
              <a:t> </a:t>
            </a:r>
          </a:p>
          <a:p>
            <a:r>
              <a:rPr i="1" dirty="0">
                <a:solidFill>
                  <a:schemeClr val="accent1"/>
                </a:solidFill>
              </a:rPr>
              <a:t>God's mercy is from age to age,</a:t>
            </a:r>
          </a:p>
          <a:p>
            <a:r>
              <a:rPr dirty="0"/>
              <a:t>on those who follow in </a:t>
            </a:r>
            <a:r>
              <a:rPr dirty="0">
                <a:solidFill>
                  <a:srgbClr val="FF0000"/>
                </a:solidFill>
              </a:rPr>
              <a:t>fear;</a:t>
            </a:r>
          </a:p>
          <a:p>
            <a:r>
              <a:rPr i="1" dirty="0">
                <a:solidFill>
                  <a:schemeClr val="accent1"/>
                </a:solidFill>
              </a:rPr>
              <a:t>Whose arm is power and strength,</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rPr dirty="0"/>
              <a:t>and scatters all the proud of </a:t>
            </a:r>
            <a:r>
              <a:rPr dirty="0">
                <a:solidFill>
                  <a:srgbClr val="FF0000"/>
                </a:solidFill>
              </a:rPr>
              <a:t>heart;</a:t>
            </a:r>
          </a:p>
          <a:p>
            <a:r>
              <a:rPr i="1" dirty="0">
                <a:solidFill>
                  <a:schemeClr val="accent1"/>
                </a:solidFill>
              </a:rPr>
              <a:t>Who casts the mighty from their thrones</a:t>
            </a:r>
            <a:r>
              <a:rPr dirty="0">
                <a:solidFill>
                  <a:schemeClr val="accent1"/>
                </a:solidFill>
              </a:rPr>
              <a:t> </a:t>
            </a:r>
          </a:p>
          <a:p>
            <a:r>
              <a:rPr dirty="0"/>
              <a:t>and raises up the lowly </a:t>
            </a:r>
            <a:r>
              <a:rPr dirty="0">
                <a:solidFill>
                  <a:srgbClr val="FF0000"/>
                </a:solidFill>
              </a:rPr>
              <a:t>ones! </a:t>
            </a:r>
          </a:p>
          <a:p>
            <a:endParaRPr dirty="0"/>
          </a:p>
          <a:p>
            <a:r>
              <a:rPr i="1" dirty="0">
                <a:solidFill>
                  <a:schemeClr val="accent1"/>
                </a:solidFill>
              </a:rPr>
              <a:t>All that I am sings of the God</a:t>
            </a:r>
          </a:p>
          <a:p>
            <a:r>
              <a:rPr dirty="0"/>
              <a:t>who brings new life to birth in me.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rPr dirty="0"/>
              <a:t>My spirit soars on the wings of </a:t>
            </a:r>
            <a:r>
              <a:rPr dirty="0">
                <a:solidFill>
                  <a:srgbClr val="FF0000"/>
                </a:solidFill>
              </a:rPr>
              <a:t>my Lord. </a:t>
            </a:r>
          </a:p>
          <a:p>
            <a:r>
              <a:rPr i="1" dirty="0">
                <a:solidFill>
                  <a:schemeClr val="accent1"/>
                </a:solidFill>
              </a:rPr>
              <a:t>God fills the starving with good things, </a:t>
            </a:r>
          </a:p>
          <a:p>
            <a:r>
              <a:rPr dirty="0"/>
              <a:t>the rich are left with empty </a:t>
            </a:r>
            <a:r>
              <a:rPr dirty="0">
                <a:solidFill>
                  <a:srgbClr val="FF0000"/>
                </a:solidFill>
              </a:rPr>
              <a:t>hands;</a:t>
            </a:r>
          </a:p>
          <a:p>
            <a:r>
              <a:rPr i="1" dirty="0">
                <a:solidFill>
                  <a:schemeClr val="accent1"/>
                </a:solidFill>
              </a:rPr>
              <a:t>Protecting all the faithful ones, </a:t>
            </a:r>
          </a:p>
          <a:p>
            <a:r>
              <a:rPr dirty="0"/>
              <a:t>remembering Israel with </a:t>
            </a:r>
            <a:r>
              <a:rPr dirty="0">
                <a:solidFill>
                  <a:srgbClr val="FF0000"/>
                </a:solidFill>
              </a:rPr>
              <a:t>mercy,</a:t>
            </a:r>
          </a:p>
          <a:p>
            <a:r>
              <a:rPr i="1" dirty="0">
                <a:solidFill>
                  <a:schemeClr val="accent1"/>
                </a:solidFill>
              </a:rPr>
              <a:t>the promise known to those before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rPr dirty="0"/>
              <a:t>and to their children </a:t>
            </a:r>
            <a:r>
              <a:rPr dirty="0">
                <a:solidFill>
                  <a:srgbClr val="FF0000"/>
                </a:solidFill>
              </a:rPr>
              <a:t>forever!</a:t>
            </a:r>
          </a:p>
          <a:p>
            <a:endParaRPr dirty="0"/>
          </a:p>
          <a:p>
            <a:r>
              <a:rPr i="1" dirty="0">
                <a:solidFill>
                  <a:schemeClr val="accent1"/>
                </a:solidFill>
              </a:rPr>
              <a:t>All that I am sings of the God</a:t>
            </a:r>
          </a:p>
          <a:p>
            <a:r>
              <a:rPr dirty="0"/>
              <a:t>who brings new life to birth in me.</a:t>
            </a:r>
          </a:p>
          <a:p>
            <a:r>
              <a:rPr dirty="0"/>
              <a:t>My spirit soars on the wings of my Lord.</a:t>
            </a:r>
          </a:p>
          <a:p>
            <a:r>
              <a:rPr dirty="0"/>
              <a:t> </a:t>
            </a:r>
          </a:p>
          <a:p>
            <a:r>
              <a:rPr dirty="0"/>
              <a:t>On the wings of my Lord.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Do not let your hearts be troubled</a:t>
            </a:r>
          </a:p>
          <a:p>
            <a:r>
              <a:t>Do not stay afraid</a:t>
            </a:r>
          </a:p>
          <a:p>
            <a:r>
              <a:t>It is really I whom you seek</a:t>
            </a:r>
          </a:p>
          <a:p>
            <a:r>
              <a:t>I offer you now My peace</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I Am Ever With You </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Arnel dC Aquino • OneLicense #30148195 • © 1992, Jesuit Communication Foundation. Administered by OCP. All rights reserved.</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have waited for this moment</a:t>
            </a:r>
          </a:p>
          <a:p>
            <a:r>
              <a:t>To be with you again</a:t>
            </a:r>
          </a:p>
          <a:p>
            <a:r>
              <a:t>In My heart, you'll remain</a:t>
            </a:r>
          </a:p>
          <a:p>
            <a:r>
              <a:t>In your heart, I'll stay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am with you </a:t>
            </a:r>
          </a:p>
          <a:p>
            <a:r>
              <a:t>'til the end of your days</a:t>
            </a:r>
          </a:p>
          <a:p>
            <a:r>
              <a:t>I am with you, have faith</a:t>
            </a:r>
          </a:p>
          <a:p>
            <a:r>
              <a:t>That I'll hold you </a:t>
            </a:r>
          </a:p>
          <a:p>
            <a:r>
              <a:t>Even when you let go</a:t>
            </a:r>
          </a:p>
          <a:p>
            <a:r>
              <a:t>And I love you, you must know</a:t>
            </a:r>
          </a:p>
          <a:p>
            <a:r>
              <a:t>I am here, I am ever with you</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Do not let your hearts be troubled</a:t>
            </a:r>
          </a:p>
          <a:p>
            <a:r>
              <a:t>Do not stay afraid</a:t>
            </a:r>
          </a:p>
          <a:p>
            <a:r>
              <a:t>I'm beyond all anguish or death</a:t>
            </a:r>
          </a:p>
          <a:p>
            <a:r>
              <a:t>I'm risen to life anew</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am with you </a:t>
            </a:r>
          </a:p>
          <a:p>
            <a:r>
              <a:t>'til the end of your days</a:t>
            </a:r>
          </a:p>
          <a:p>
            <a:r>
              <a:t>I am with you, have faith</a:t>
            </a:r>
          </a:p>
          <a:p>
            <a:r>
              <a:t>That I'll hold you </a:t>
            </a:r>
          </a:p>
          <a:p>
            <a:r>
              <a:t>Even when you let go</a:t>
            </a:r>
          </a:p>
          <a:p>
            <a:r>
              <a:t>And I love you, you must know</a:t>
            </a:r>
          </a:p>
          <a:p>
            <a:r>
              <a:t>I am here, I am ever with you</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I am with you </a:t>
            </a:r>
          </a:p>
          <a:p>
            <a:r>
              <a:t>'til the end of your days</a:t>
            </a:r>
          </a:p>
          <a:p>
            <a:r>
              <a:t>I am with you, have faith</a:t>
            </a:r>
          </a:p>
          <a:p>
            <a:r>
              <a:t>That I'll hold you </a:t>
            </a:r>
          </a:p>
          <a:p>
            <a:r>
              <a:t>Even when you let go</a:t>
            </a:r>
          </a:p>
          <a:p>
            <a:r>
              <a:t>And I love you, you must know</a:t>
            </a:r>
          </a:p>
          <a:p>
            <a:r>
              <a:t>I am here, I am ever with you</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914400"/>
            <a:ext cx="12192000" cy="59436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Saint Francis, our brother, </a:t>
            </a:r>
          </a:p>
          <a:p>
            <a:r>
              <a:t>you who eight hundred years ago </a:t>
            </a:r>
          </a:p>
          <a:p>
            <a:r>
              <a:t>went to meet Sister Death as a man at peace, </a:t>
            </a:r>
          </a:p>
          <a:p>
            <a:r>
              <a:t>intercede for us with the Lord.</a:t>
            </a:r>
          </a:p>
          <a:p>
            <a:r>
              <a:t>In the Crucifix of San Damiano </a:t>
            </a:r>
          </a:p>
          <a:p>
            <a:r>
              <a:t>you recognized true peace, </a:t>
            </a:r>
          </a:p>
          <a:p>
            <a:r>
              <a:t>teach us to seek in Him the source of all </a:t>
            </a:r>
          </a:p>
          <a:p>
            <a:r>
              <a:t>reconciliation that breaks down every wall.</a:t>
            </a:r>
          </a:p>
        </p:txBody>
      </p:sp>
      <p:sp>
        <p:nvSpPr>
          <p:cNvPr id="2" name="Title">
            <a:extLst>
              <a:ext uri="{FF2B5EF4-FFF2-40B4-BE49-F238E27FC236}">
                <a16:creationId xmlns:a16="http://schemas.microsoft.com/office/drawing/2014/main" id="{D8236168-AA03-815A-E2FA-4A05B896B841}"/>
              </a:ext>
            </a:extLst>
          </p:cNvPr>
          <p:cNvSpPr>
            <a:spLocks noGrp="1"/>
          </p:cNvSpPr>
          <p:nvPr>
            <p:ph type="title"/>
          </p:nvPr>
        </p:nvSpPr>
        <p:spPr>
          <a:xfrm>
            <a:off x="0" y="1"/>
            <a:ext cx="12192000" cy="914399"/>
          </a:xfrm>
          <a:prstGeom prst="rect">
            <a:avLst/>
          </a:prstGeom>
        </p:spPr>
        <p:txBody>
          <a:bodyPr anchor="ctr">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Prayer to Saint Francis of Assisi</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You who, unarmed, crossed the lines of war and misunderstanding, give us the courage to build bridges where the world erects borders. In this time plagued by conflict and division, intercede so that we may become peacemakers: unarmed and disarming witnesses of the peace that comes from Christ. Amen</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143000"/>
            <a:ext cx="12192000" cy="5715000"/>
          </a:xfrm>
          <a:prstGeom prst="rect">
            <a:avLst/>
          </a:prstGeom>
        </p:spPr>
        <p:txBody>
          <a:bodyPr anchor="ctr">
            <a:normAutofit/>
          </a:bodyPr>
          <a:lstStyle>
            <a:lvl1pPr marL="0" indent="0" algn="ctr">
              <a:lnSpc>
                <a:spcPct val="100000"/>
              </a:lnSpc>
              <a:spcBef>
                <a:spcPts val="0"/>
              </a:spcBef>
              <a:buNone/>
              <a:defRPr sz="4800" b="1">
                <a:latin typeface="Times New Roman" panose="02020603050405020304" pitchFamily="18" charset="0"/>
                <a:ea typeface="Verdana" panose="020B0604030504040204" pitchFamily="34" charset="0"/>
                <a:cs typeface="Times New Roman" panose="02020603050405020304" pitchFamily="18" charset="0"/>
              </a:defRPr>
            </a:lvl1pPr>
          </a:lstStyle>
          <a:p>
            <a:r>
              <a:t>As I kneel before you.</a:t>
            </a:r>
          </a:p>
          <a:p>
            <a:r>
              <a:t>As I bow my head in prayer.</a:t>
            </a:r>
          </a:p>
          <a:p>
            <a:r>
              <a:t>Take this day, make it yours</a:t>
            </a:r>
          </a:p>
          <a:p>
            <a:r>
              <a:t>And fill me with your love.</a:t>
            </a:r>
          </a:p>
        </p:txBody>
      </p:sp>
      <p:sp>
        <p:nvSpPr>
          <p:cNvPr id="2" name="Song Title">
            <a:extLst>
              <a:ext uri="{FF2B5EF4-FFF2-40B4-BE49-F238E27FC236}">
                <a16:creationId xmlns:a16="http://schemas.microsoft.com/office/drawing/2014/main" id="{D8236168-AA03-815A-E2FA-4A05B896B841}"/>
              </a:ext>
            </a:extLst>
          </p:cNvPr>
          <p:cNvSpPr>
            <a:spLocks noGrp="1"/>
          </p:cNvSpPr>
          <p:nvPr>
            <p:ph type="title"/>
          </p:nvPr>
        </p:nvSpPr>
        <p:spPr>
          <a:xfrm>
            <a:off x="0" y="0"/>
            <a:ext cx="12192000" cy="914400"/>
          </a:xfrm>
          <a:prstGeom prst="rect">
            <a:avLst/>
          </a:prstGeom>
        </p:spPr>
        <p:txBody>
          <a:bodyPr anchor="b">
            <a:normAutofit/>
          </a:bodyPr>
          <a:lstStyle>
            <a:lvl1pPr algn="ctr">
              <a:defRPr sz="5400" b="1">
                <a:solidFill>
                  <a:schemeClr val="accent1"/>
                </a:solidFill>
                <a:latin typeface="Times New Roman" panose="02020603050405020304" pitchFamily="18" charset="0"/>
                <a:ea typeface="Verdana" panose="020B0604030504040204" pitchFamily="34" charset="0"/>
                <a:cs typeface="Times New Roman" panose="02020603050405020304" pitchFamily="18" charset="0"/>
              </a:defRPr>
            </a:lvl1pPr>
          </a:lstStyle>
          <a:p>
            <a:r>
              <a:t>As I Kneel Before You</a:t>
            </a:r>
          </a:p>
        </p:txBody>
      </p:sp>
      <p:sp>
        <p:nvSpPr>
          <p:cNvPr id="4" name="Footer">
            <a:extLst>
              <a:ext uri="{FF2B5EF4-FFF2-40B4-BE49-F238E27FC236}">
                <a16:creationId xmlns:a16="http://schemas.microsoft.com/office/drawing/2014/main" id="{07546E71-A827-033C-0C39-A29C499CAF95}"/>
              </a:ext>
            </a:extLst>
          </p:cNvPr>
          <p:cNvSpPr>
            <a:spLocks noGrp="1"/>
          </p:cNvSpPr>
          <p:nvPr>
            <p:ph type="body" sz="quarter" idx="11"/>
          </p:nvPr>
        </p:nvSpPr>
        <p:spPr>
          <a:xfrm>
            <a:off x="0" y="864705"/>
            <a:ext cx="12192000" cy="270124"/>
          </a:xfrm>
          <a:prstGeom prst="rect">
            <a:avLst/>
          </a:prstGeom>
        </p:spPr>
        <p:txBody>
          <a:bodyPr anchor="t"/>
          <a:lstStyle>
            <a:lvl1pPr algn="ctr">
              <a:buNone/>
              <a:defRPr sz="1400" i="1">
                <a:solidFill>
                  <a:schemeClr val="accent1"/>
                </a:solidFill>
                <a:latin typeface="Times New Roman" panose="02020603050405020304" pitchFamily="18" charset="0"/>
                <a:cs typeface="Times New Roman" panose="02020603050405020304" pitchFamily="18" charset="0"/>
              </a:defRPr>
            </a:lvl1pPr>
          </a:lstStyle>
          <a:p>
            <a:r>
              <a:t>Maria Parkinson • OneLicense #40628 • © 1978, Kevin Mayhew</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Ave Maria, </a:t>
            </a:r>
          </a:p>
          <a:p>
            <a:r>
              <a:t>Gratia plena </a:t>
            </a:r>
          </a:p>
          <a:p>
            <a:r>
              <a:t>Dominus tecum,</a:t>
            </a:r>
          </a:p>
          <a:p>
            <a:r>
              <a:t>Benedicta tu</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All I have I give you.</a:t>
            </a:r>
          </a:p>
          <a:p>
            <a:r>
              <a:t>Every dream and wish are yours.</a:t>
            </a:r>
          </a:p>
          <a:p>
            <a:r>
              <a:t>Mother of Christ mother of mine.</a:t>
            </a:r>
          </a:p>
          <a:p>
            <a:r>
              <a:t>Present them to my Lord.</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yrics">
            <a:extLst>
              <a:ext uri="{FF2B5EF4-FFF2-40B4-BE49-F238E27FC236}">
                <a16:creationId xmlns:a16="http://schemas.microsoft.com/office/drawing/2014/main" id="{CEF82248-E6A0-7DCA-2366-B58D4E0F4D09}"/>
              </a:ext>
            </a:extLst>
          </p:cNvPr>
          <p:cNvSpPr>
            <a:spLocks noGrp="1"/>
          </p:cNvSpPr>
          <p:nvPr>
            <p:ph type="body" sz="quarter" idx="10"/>
          </p:nvPr>
        </p:nvSpPr>
        <p:spPr>
          <a:xfrm>
            <a:off x="0" y="1"/>
            <a:ext cx="12192000" cy="6858000"/>
          </a:xfrm>
          <a:prstGeom prst="rect">
            <a:avLst/>
          </a:prstGeom>
        </p:spPr>
        <p:txBody>
          <a:bodyPr anchor="ctr">
            <a:normAutofit/>
          </a:bodyPr>
          <a:lstStyle>
            <a:lvl1pPr marL="0" indent="0" algn="ctr">
              <a:buNone/>
              <a:defRPr sz="4800" b="1">
                <a:latin typeface="Times New Roman" panose="02020603050405020304" pitchFamily="18" charset="0"/>
                <a:cs typeface="Times New Roman" panose="02020603050405020304" pitchFamily="18" charset="0"/>
              </a:defRPr>
            </a:lvl1pPr>
          </a:lstStyle>
          <a:p>
            <a:r>
              <a:t>Ave Maria, </a:t>
            </a:r>
          </a:p>
          <a:p>
            <a:r>
              <a:t>Gratia plena </a:t>
            </a:r>
          </a:p>
          <a:p>
            <a:r>
              <a:t>Dominus tecum,</a:t>
            </a:r>
          </a:p>
          <a:p>
            <a:r>
              <a:t>Benedicta tu</a:t>
            </a:r>
          </a:p>
        </p:txBody>
      </p:sp>
    </p:spTree>
  </p:cSld>
  <p:clrMapOvr>
    <a:masterClrMapping/>
  </p:clrMapOvr>
</p:sld>
</file>

<file path=ppt/theme/theme1.xml><?xml version="1.0" encoding="utf-8"?>
<a:theme xmlns:a="http://schemas.openxmlformats.org/drawingml/2006/main" name="Mass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ss Template" id="{6AD46FE0-2607-BD44-BB07-9A32C4CFE789}" vid="{8C71738A-A40C-524E-9177-5A5D0CB58D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Mass Template</Template>
  <TotalTime>2753</TotalTime>
  <Words>2633</Words>
  <Application>Microsoft Macintosh PowerPoint</Application>
  <PresentationFormat>Widescreen</PresentationFormat>
  <Paragraphs>370</Paragraphs>
  <Slides>94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94</vt:i4>
      </vt:variant>
    </vt:vector>
  </HeadingPairs>
  <TitlesOfParts>
    <vt:vector size="99" baseType="lpstr">
      <vt:lpstr>Aptos</vt:lpstr>
      <vt:lpstr>Arial</vt:lpstr>
      <vt:lpstr>Times New Roman</vt:lpstr>
      <vt:lpstr>Wingdings</vt:lpstr>
      <vt:lpstr>Mass Template</vt:lpstr>
      <vt:lpstr>PowerPoint Presentation</vt:lpstr>
      <vt:lpstr>PowerPoint Presentation</vt:lpstr>
      <vt:lpstr>Twenty-third Sunday in Ordinary Time</vt:lpstr>
      <vt:lpstr>PowerPoint Presentation</vt:lpstr>
      <vt:lpstr>I Sing The Mighty Power Of God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Meditation</vt:lpstr>
      <vt:lpstr>Prayer Intention</vt:lpstr>
      <vt:lpstr>PowerPoint Presentation</vt:lpstr>
      <vt:lpstr>Penitential Act</vt:lpstr>
      <vt:lpstr>PowerPoint Presentation</vt:lpstr>
      <vt:lpstr>PowerPoint Presentation</vt:lpstr>
      <vt:lpstr>PowerPoint Presentation</vt:lpstr>
      <vt:lpstr>Lord Have Mercy</vt:lpstr>
      <vt:lpstr>PowerPoint Presentation</vt:lpstr>
      <vt:lpstr>Glory To God</vt:lpstr>
      <vt:lpstr>PowerPoint Presentation</vt:lpstr>
      <vt:lpstr>PowerPoint Presentation</vt:lpstr>
      <vt:lpstr>PowerPoint Presentation</vt:lpstr>
      <vt:lpstr>PowerPoint Presentation</vt:lpstr>
      <vt:lpstr>PowerPoint Presentation</vt:lpstr>
      <vt:lpstr>PowerPoint Presentation</vt:lpstr>
      <vt:lpstr>Responsorial Psalm</vt:lpstr>
      <vt:lpstr>PowerPoint Presentation</vt:lpstr>
      <vt:lpstr>PowerPoint Presentation</vt:lpstr>
      <vt:lpstr>PowerPoint Presentation</vt:lpstr>
      <vt:lpstr>Nicene Creed</vt:lpstr>
      <vt:lpstr>PowerPoint Presentation</vt:lpstr>
      <vt:lpstr>PowerPoint Presentation</vt:lpstr>
      <vt:lpstr>PowerPoint Presentation</vt:lpstr>
      <vt:lpstr>PowerPoint Presentation</vt:lpstr>
      <vt:lpstr>PowerPoint Presentation</vt:lpstr>
      <vt:lpstr>PowerPoint Presentation</vt:lpstr>
      <vt:lpstr>Prayers of the Faithful</vt:lpstr>
      <vt:lpstr>Novena Prayer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Lord We Gather Today</vt:lpstr>
      <vt:lpstr>PowerPoint Presentation</vt:lpstr>
      <vt:lpstr>PowerPoint Presentation</vt:lpstr>
      <vt:lpstr>PowerPoint Presentation</vt:lpstr>
      <vt:lpstr>PowerPoint Presentation</vt:lpstr>
      <vt:lpstr>Holy Holy</vt:lpstr>
      <vt:lpstr>PowerPoint Presentation</vt:lpstr>
      <vt:lpstr>PowerPoint Presentation</vt:lpstr>
      <vt:lpstr>Memorial Acclamation</vt:lpstr>
      <vt:lpstr>PowerPoint Presentation</vt:lpstr>
      <vt:lpstr>Great Amen</vt:lpstr>
      <vt:lpstr>PowerPoint Presentation</vt:lpstr>
      <vt:lpstr>Our Father</vt:lpstr>
      <vt:lpstr>PowerPoint Presentation</vt:lpstr>
      <vt:lpstr>PowerPoint Presentation</vt:lpstr>
      <vt:lpstr>PowerPoint Presentation</vt:lpstr>
      <vt:lpstr>PowerPoint Presentation</vt:lpstr>
      <vt:lpstr>Lamb of God</vt:lpstr>
      <vt:lpstr>PowerPoint Presentation</vt:lpstr>
      <vt:lpstr>PowerPoint Presentation</vt:lpstr>
      <vt:lpstr>PowerPoint Presentation</vt:lpstr>
      <vt:lpstr>PowerPoint Presentation</vt:lpstr>
      <vt:lpstr>PowerPoint Presentation</vt:lpstr>
      <vt:lpstr>Magniﬁcat</vt:lpstr>
      <vt:lpstr>PowerPoint Presentation</vt:lpstr>
      <vt:lpstr>PowerPoint Presentation</vt:lpstr>
      <vt:lpstr>PowerPoint Presentation</vt:lpstr>
      <vt:lpstr>PowerPoint Presentation</vt:lpstr>
      <vt:lpstr>PowerPoint Presentation</vt:lpstr>
      <vt:lpstr>PowerPoint Presentation</vt:lpstr>
      <vt:lpstr>I Am Ever With You </vt:lpstr>
      <vt:lpstr>PowerPoint Presentation</vt:lpstr>
      <vt:lpstr>PowerPoint Presentation</vt:lpstr>
      <vt:lpstr>PowerPoint Presentation</vt:lpstr>
      <vt:lpstr>PowerPoint Presentation</vt:lpstr>
      <vt:lpstr>PowerPoint Presentation</vt:lpstr>
      <vt:lpstr>PowerPoint Presentation</vt:lpstr>
      <vt:lpstr>Prayer to Saint Francis of Assisi</vt:lpstr>
      <vt:lpstr>PowerPoint Presentation</vt:lpstr>
      <vt:lpstr>PowerPoint Presentation</vt:lpstr>
      <vt:lpstr>As I Kneel Before You</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 and Receive Manoling Francisco</dc:title>
  <dc:creator>Butch Dela Cruz</dc:creator>
  <cp:lastModifiedBy>Butch Dela Cruz</cp:lastModifiedBy>
  <cp:revision>99</cp:revision>
  <dcterms:created xsi:type="dcterms:W3CDTF">2025-04-25T02:27:20Z</dcterms:created>
  <dcterms:modified xsi:type="dcterms:W3CDTF">2026-09-03T08:47:21Z</dcterms:modified>
</cp:coreProperties>
</file>